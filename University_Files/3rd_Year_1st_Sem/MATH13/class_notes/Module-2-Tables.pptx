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8000"/>
    <a:srgbClr val="E9EBF5"/>
    <a:srgbClr val="CFD5EA"/>
    <a:srgbClr val="E7EAF5"/>
    <a:srgbClr val="4472C4"/>
    <a:srgbClr val="FF5050"/>
    <a:srgbClr val="FF9900"/>
    <a:srgbClr val="ADB9CA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70" y="72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AA0B9-D8FD-4844-A8CA-48FEBBEDA2DB}" type="datetimeFigureOut">
              <a:rPr lang="en-PH" smtClean="0"/>
              <a:t>12/03/2025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36B5E-2868-44EE-B5BF-726A0A6FFD9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922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9663-7944-FBA1-2C0C-67F49DD0C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EA81A-8432-1BF0-A7BC-A2EB1EF72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A085-B1AE-52AF-D4E9-F4149C13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0BC2-6789-4851-A033-6BB5B74F9719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AC77-1C18-3710-FD01-65ED5948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7EE9-6DA9-EFB6-96FB-2608E7E0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040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3FF9-9A29-7689-F686-A13D2E9A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DDAC-61AF-E940-4756-5FE222F8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5F2B-9904-E77C-8A88-38B1D70E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38FB-47E3-3041-5936-37F52EC5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D6C8-B0A3-248A-BF6D-FE49477D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990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C3DB-0077-4F45-09FF-4983760C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3F4E2-BEA9-B145-22F4-4110E142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87AFF-AD14-C77C-5347-5ED11E69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73A93-19E9-4828-8064-CC092CAEC7ED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07E3-C472-3E93-4624-D6601463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DF0B-0938-A219-501B-2179DD10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20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FCE4-9578-8AEF-C5AA-49E39E10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914D-3F5A-C6DE-7848-4F807B8C7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21C1C-984E-B1B8-56A8-950E9D437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89BB6-44EF-567A-1B06-5CE252B1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CDF2-BBAF-4A67-849A-176266B54FC3}" type="datetime1">
              <a:rPr lang="en-PH" smtClean="0"/>
              <a:t>12/03/2025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2AC06-0ECD-5709-AB09-B729F5D1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028C8-FBE3-5C17-3542-A76517E3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625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4CED-96D6-FD3E-7E1A-303E4BD3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9FD06-A770-43A2-F7AB-FE7E1D722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C4F55-9313-F2C3-220D-2B8B26017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0F9DE-4B7F-99F5-6307-1E251A5B9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D5900-C455-BD10-1EB4-3F574B6B2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8AFE1-6592-B534-06D8-71209B63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E2107-952A-4CD4-8A06-E8D3A41B25E3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80D96-4E70-08DA-98AE-870357E7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AA5F9-58FC-CE2F-8A92-332B25A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138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572C-228E-CC4F-29EE-BA0B2B15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9875F-6F82-56A6-D0C8-2392D087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8D2D-EF1B-4D77-8C7A-A68A2DFDDD44}" type="datetime1">
              <a:rPr lang="en-PH" smtClean="0"/>
              <a:t>12/03/2025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C3050-5E6F-8947-524E-37306503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26913-0AE9-F483-D95C-E93B2242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32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93243-AA6A-E236-C7D3-1D0031FE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A23DB-C0DF-458D-A477-76C508462D47}" type="datetime1">
              <a:rPr lang="en-PH" smtClean="0"/>
              <a:t>12/03/2025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32F31-BA3E-DCA7-74AD-FC1C66EB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719D8-D8A4-78E3-52C5-01775C58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149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7CCD-ED7E-EA71-0FE3-313BED38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1BA0-A0D0-4F8D-69C6-926A4C68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9623A-ABF9-D6DD-3652-4A8C281DB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5F909-E0D2-78BC-1129-F11DD5F7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CAA80-2D4E-4300-A8B6-E495431DB547}" type="datetime1">
              <a:rPr lang="en-PH" smtClean="0"/>
              <a:t>12/03/2025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D0D21-F4CC-3939-CC89-86127AF0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F155-7A3A-70B8-AB0C-2A5DE221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882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A2C3-F2D6-9920-AE44-C99D7046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EF8EB-6472-DC57-A225-C8C67BA98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BF6E8-EC2B-776C-F7DB-962B1392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1A641-4D4B-2445-CF05-80D8C5E9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07E7E-B679-43A5-89EA-3CF7EDDD43B9}" type="datetime1">
              <a:rPr lang="en-PH" smtClean="0"/>
              <a:t>12/03/2025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F98E3-79D9-FA34-31FE-D3CB27FF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57A86-3BDC-AC62-7180-0593D1D2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594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C364-E484-05AB-C69F-8FB4B2C0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1B279-FEAE-CD31-DBEC-9C05BCD4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3F958-FADF-F95A-423F-933E18B1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3F93-9E1B-47F8-9A73-84C33FF9E255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767E7-C64E-12F2-4D34-777159C5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1AD48-0CA7-35AF-4FA7-FDE11506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819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003E8-711A-FA70-B52B-E1F656AE7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46D99-5A9C-833D-F43D-AD59E1F33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569E-11A3-671A-126E-85917B0F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823D-C506-4AFE-9D45-60FB63A359A2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BB97-974A-799C-1A30-0D2F82C3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F763-BB45-92C8-DC94-BC6B79D2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83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C1524-2C77-AAAC-A56A-D570E67D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F33C9-2CB2-7C8D-5A64-930DCC856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9128-CD4E-E827-C85A-E20BC6D00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CD29C-53B6-4B88-8A30-339B5EF7DCC5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F564-6061-A49D-2669-5789E3FC2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BE269-C889-7500-EAD0-DA8090803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640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xample of group score frequency distribution table | Download  Scientific Diagram">
            <a:extLst>
              <a:ext uri="{FF2B5EF4-FFF2-40B4-BE49-F238E27FC236}">
                <a16:creationId xmlns:a16="http://schemas.microsoft.com/office/drawing/2014/main" id="{F1719E03-F955-EAD3-2BEC-868E242E7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83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FC8B2-A50C-F064-51BE-AB6ABD1B3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9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Module </a:t>
            </a:r>
            <a:r>
              <a:rPr lang="en-US" sz="16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endParaRPr lang="en-PH" sz="9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4EFF7-842F-128D-6693-0F1A9EF3F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748" y="3602038"/>
            <a:ext cx="11519452" cy="16557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Organization and Presentation </a:t>
            </a:r>
          </a:p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through </a:t>
            </a:r>
            <a:r>
              <a:rPr lang="en-US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Tables</a:t>
            </a:r>
            <a:endParaRPr lang="en-PH" sz="36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4869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63" y="436419"/>
            <a:ext cx="10089573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3.1: </a:t>
            </a:r>
            <a:r>
              <a:rPr lang="en-US" sz="54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Ages of 44 Students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4800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Unranked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09778-8216-33C5-B4BB-64F2A730A144}"/>
              </a:ext>
            </a:extLst>
          </p:cNvPr>
          <p:cNvSpPr txBox="1"/>
          <p:nvPr/>
        </p:nvSpPr>
        <p:spPr>
          <a:xfrm>
            <a:off x="602673" y="2831897"/>
            <a:ext cx="1118061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15     30     27 </a:t>
            </a:r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    </a:t>
            </a:r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21     27     17     22     18      20    </a:t>
            </a:r>
          </a:p>
          <a:p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21 	  19     24     21     16      27     22     19     18 </a:t>
            </a:r>
          </a:p>
          <a:p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23     19     16     21     20     17     20     19      20 </a:t>
            </a:r>
          </a:p>
          <a:p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21     24     23     25     16     17     19     23      22 </a:t>
            </a:r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    </a:t>
            </a:r>
          </a:p>
          <a:p>
            <a:r>
              <a:rPr lang="en-PH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23     18     22     20     20     17     22     24</a:t>
            </a:r>
            <a:endParaRPr lang="en-PH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EC8D85-7507-CC3E-ECD5-8C11C29EB4FB}"/>
              </a:ext>
            </a:extLst>
          </p:cNvPr>
          <p:cNvSpPr/>
          <p:nvPr/>
        </p:nvSpPr>
        <p:spPr>
          <a:xfrm>
            <a:off x="602673" y="2831897"/>
            <a:ext cx="798110" cy="679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13A11B-2F99-6F44-9AEB-0113E25E7B7C}"/>
              </a:ext>
            </a:extLst>
          </p:cNvPr>
          <p:cNvSpPr/>
          <p:nvPr/>
        </p:nvSpPr>
        <p:spPr>
          <a:xfrm>
            <a:off x="5579919" y="3480514"/>
            <a:ext cx="883225" cy="6797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69CA32-2241-FE2B-B6DC-BE8EDBEA835E}"/>
              </a:ext>
            </a:extLst>
          </p:cNvPr>
          <p:cNvSpPr/>
          <p:nvPr/>
        </p:nvSpPr>
        <p:spPr>
          <a:xfrm>
            <a:off x="5652089" y="4669700"/>
            <a:ext cx="883225" cy="6797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D65862-9C0C-EA65-652F-1FF622553573}"/>
              </a:ext>
            </a:extLst>
          </p:cNvPr>
          <p:cNvSpPr/>
          <p:nvPr/>
        </p:nvSpPr>
        <p:spPr>
          <a:xfrm>
            <a:off x="3134592" y="4077052"/>
            <a:ext cx="883225" cy="6797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EEF5C-0415-A8C3-24B9-1104FB38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D4EB5-5D3E-48A1-8E04-F076C01111FF}" type="datetime1">
              <a:rPr lang="en-PH" smtClean="0"/>
              <a:t>12/03/2025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38ABD-1ED5-AE49-5450-6656D61A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96911-0816-F2AB-6A11-38CA13B9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97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1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1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63" y="436419"/>
            <a:ext cx="10089573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3.2: </a:t>
            </a:r>
            <a:r>
              <a:rPr lang="en-US" sz="54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Ages of 44 Students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4800" b="1" dirty="0">
                <a:solidFill>
                  <a:srgbClr val="FF0000"/>
                </a:solidFill>
              </a:rPr>
              <a:t>R</a:t>
            </a:r>
            <a:r>
              <a:rPr lang="en-US" sz="4800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anked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09778-8216-33C5-B4BB-64F2A730A144}"/>
              </a:ext>
            </a:extLst>
          </p:cNvPr>
          <p:cNvSpPr txBox="1"/>
          <p:nvPr/>
        </p:nvSpPr>
        <p:spPr>
          <a:xfrm>
            <a:off x="602673" y="2452513"/>
            <a:ext cx="1118061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15 	   16     16     16     17     17     17     17     18    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18     18     19     19     19     19     19     20     20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20     20     20     20     21     	21     21     21     21     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22     22     22     22     22     23     23     23     23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24     24     24     25     27     27     27     30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1C77A-3DDA-708D-4281-EEB6A0497523}"/>
              </a:ext>
            </a:extLst>
          </p:cNvPr>
          <p:cNvSpPr txBox="1"/>
          <p:nvPr/>
        </p:nvSpPr>
        <p:spPr>
          <a:xfrm>
            <a:off x="0" y="56226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solidFill>
                  <a:srgbClr val="000099"/>
                </a:solidFill>
              </a:rPr>
              <a:t>Construct a frequency table for each age (15-30).</a:t>
            </a:r>
            <a:endParaRPr lang="en-PH" sz="4000" b="1" i="1" dirty="0">
              <a:solidFill>
                <a:srgbClr val="0000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1E0DF-1E81-CEE5-5D18-C582754A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F647-13E2-4AD1-96C7-AD69FDA42BB5}" type="datetime1">
              <a:rPr lang="en-PH" smtClean="0"/>
              <a:t>12/03/2025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9921-368E-14FE-B99C-9F13A7F0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3D7F4-B8C7-27AA-E48F-86DA67CF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193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215BBC-1E00-6E90-06A4-DA6501046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173580"/>
              </p:ext>
            </p:extLst>
          </p:nvPr>
        </p:nvGraphicFramePr>
        <p:xfrm>
          <a:off x="8288370" y="134994"/>
          <a:ext cx="3313192" cy="65795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0921">
                  <a:extLst>
                    <a:ext uri="{9D8B030D-6E8A-4147-A177-3AD203B41FA5}">
                      <a16:colId xmlns:a16="http://schemas.microsoft.com/office/drawing/2014/main" val="48466084"/>
                    </a:ext>
                  </a:extLst>
                </a:gridCol>
                <a:gridCol w="1172271">
                  <a:extLst>
                    <a:ext uri="{9D8B030D-6E8A-4147-A177-3AD203B41FA5}">
                      <a16:colId xmlns:a16="http://schemas.microsoft.com/office/drawing/2014/main" val="3222685004"/>
                    </a:ext>
                  </a:extLst>
                </a:gridCol>
              </a:tblGrid>
              <a:tr h="4835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en-PH" sz="1600" dirty="0"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16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149793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875934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1862887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601894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7532593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8752132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167562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8152273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9448014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244867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0598174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9621155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731866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5241830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693323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8298610"/>
                  </a:ext>
                </a:extLst>
              </a:tr>
              <a:tr h="350505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PH" sz="2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25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1716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420AFA7-3273-63D0-7D99-57D52E662857}"/>
              </a:ext>
            </a:extLst>
          </p:cNvPr>
          <p:cNvSpPr txBox="1"/>
          <p:nvPr/>
        </p:nvSpPr>
        <p:spPr>
          <a:xfrm>
            <a:off x="877846" y="3419927"/>
            <a:ext cx="378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Sample Interpretations:</a:t>
            </a:r>
            <a:endParaRPr lang="en-PH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D1C7C-A9CC-6638-AD99-A838B3A4DD50}"/>
              </a:ext>
            </a:extLst>
          </p:cNvPr>
          <p:cNvSpPr txBox="1"/>
          <p:nvPr/>
        </p:nvSpPr>
        <p:spPr>
          <a:xfrm>
            <a:off x="1126240" y="4015174"/>
            <a:ext cx="6879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Four students are 17 years old.</a:t>
            </a:r>
            <a:endParaRPr lang="en-PH" sz="2000" b="1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4BA15-B91D-98C0-3B74-8351AAA488C2}"/>
              </a:ext>
            </a:extLst>
          </p:cNvPr>
          <p:cNvSpPr/>
          <p:nvPr/>
        </p:nvSpPr>
        <p:spPr>
          <a:xfrm>
            <a:off x="8944435" y="1353293"/>
            <a:ext cx="2401774" cy="4074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A231C8-A6AA-4BF6-A0EF-BE1B40A494E8}"/>
              </a:ext>
            </a:extLst>
          </p:cNvPr>
          <p:cNvSpPr/>
          <p:nvPr/>
        </p:nvSpPr>
        <p:spPr>
          <a:xfrm>
            <a:off x="8863371" y="5504707"/>
            <a:ext cx="2401774" cy="844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441B8-428D-FC80-C2FC-92379D9AED06}"/>
              </a:ext>
            </a:extLst>
          </p:cNvPr>
          <p:cNvSpPr txBox="1"/>
          <p:nvPr/>
        </p:nvSpPr>
        <p:spPr>
          <a:xfrm>
            <a:off x="1126239" y="4721886"/>
            <a:ext cx="53616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There are no students whose ages are 28 and 29 years.</a:t>
            </a:r>
            <a:endParaRPr lang="en-PH" sz="2000" b="1" i="1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E36828C-4B33-9010-645C-CE5E59F1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966E-354E-4FB5-9B8C-CBA628B0C818}" type="datetime1">
              <a:rPr lang="en-PH" smtClean="0"/>
              <a:t>12/03/2025</a:t>
            </a:fld>
            <a:endParaRPr lang="en-P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C19EA6-AA65-5DFC-62ED-D58C089F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4F74C8-5C08-62CE-D49D-A6F911EC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4</a:t>
            </a:fld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916" y="10391"/>
            <a:ext cx="7229322" cy="3027872"/>
          </a:xfrm>
          <a:solidFill>
            <a:srgbClr val="ADB9CA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3.3: </a:t>
            </a:r>
            <a:b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 Distribution 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Ages of 44 Students 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900" b="1" dirty="0"/>
              <a:t>(</a:t>
            </a:r>
            <a:r>
              <a:rPr lang="en-US" sz="4900" b="1" u="sng" dirty="0"/>
              <a:t>grouped</a:t>
            </a:r>
            <a:r>
              <a:rPr lang="en-US" sz="4900" b="1" dirty="0"/>
              <a:t> data, </a:t>
            </a:r>
            <a:r>
              <a:rPr lang="en-US" sz="4900" b="1" dirty="0">
                <a:solidFill>
                  <a:srgbClr val="FF0000"/>
                </a:solidFill>
              </a:rPr>
              <a:t>without classes</a:t>
            </a:r>
            <a:r>
              <a:rPr lang="en-US" sz="4900" b="1" dirty="0"/>
              <a:t>)</a:t>
            </a:r>
            <a:endParaRPr lang="en-US" sz="54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0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 animBg="1"/>
      <p:bldP spid="8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4" y="114298"/>
            <a:ext cx="10671465" cy="2019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</a:rPr>
              <a:t>Table 3.4: </a:t>
            </a:r>
            <a:br>
              <a:rPr lang="en-US" sz="4800" b="1" kern="1200" dirty="0">
                <a:solidFill>
                  <a:schemeClr val="tx1"/>
                </a:solidFill>
              </a:rPr>
            </a:b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 Distribution of Ages of 44 Students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/>
              <a:t>(</a:t>
            </a:r>
            <a:r>
              <a:rPr lang="en-US" b="1" u="sng" dirty="0"/>
              <a:t>grouped</a:t>
            </a:r>
            <a:r>
              <a:rPr lang="en-US" b="1" dirty="0"/>
              <a:t> data, </a:t>
            </a:r>
            <a:r>
              <a:rPr lang="en-US" b="1" dirty="0">
                <a:solidFill>
                  <a:srgbClr val="FF0000"/>
                </a:solidFill>
              </a:rPr>
              <a:t>with classes</a:t>
            </a:r>
            <a:r>
              <a:rPr lang="en-US" b="1" dirty="0"/>
              <a:t>)</a:t>
            </a:r>
            <a:endParaRPr lang="en-US" sz="5400" b="1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336344"/>
              </p:ext>
            </p:extLst>
          </p:nvPr>
        </p:nvGraphicFramePr>
        <p:xfrm>
          <a:off x="3259705" y="2187089"/>
          <a:ext cx="3850398" cy="44145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1434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1358964">
                  <a:extLst>
                    <a:ext uri="{9D8B030D-6E8A-4147-A177-3AD203B41FA5}">
                      <a16:colId xmlns:a16="http://schemas.microsoft.com/office/drawing/2014/main" val="112294919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Age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2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2563099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257190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6314988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highlight>
                          <a:srgbClr val="4472C4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b="1" i="1" dirty="0">
                        <a:effectLst/>
                        <a:highlight>
                          <a:srgbClr val="4472C4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398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60FD1D-C22C-A20F-B350-67E5C9340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8227"/>
              </p:ext>
            </p:extLst>
          </p:nvPr>
        </p:nvGraphicFramePr>
        <p:xfrm>
          <a:off x="417951" y="1572071"/>
          <a:ext cx="1390068" cy="4862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236">
                  <a:extLst>
                    <a:ext uri="{9D8B030D-6E8A-4147-A177-3AD203B41FA5}">
                      <a16:colId xmlns:a16="http://schemas.microsoft.com/office/drawing/2014/main" val="48466084"/>
                    </a:ext>
                  </a:extLst>
                </a:gridCol>
                <a:gridCol w="491832">
                  <a:extLst>
                    <a:ext uri="{9D8B030D-6E8A-4147-A177-3AD203B41FA5}">
                      <a16:colId xmlns:a16="http://schemas.microsoft.com/office/drawing/2014/main" val="3222685004"/>
                    </a:ext>
                  </a:extLst>
                </a:gridCol>
              </a:tblGrid>
              <a:tr h="27123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en-PH" sz="1800" dirty="0"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1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149793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875934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1862887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601894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7532593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8752132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167562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8152273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9448014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244867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0598174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9621155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731866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5241830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693323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8298610"/>
                  </a:ext>
                </a:extLst>
              </a:tr>
              <a:tr h="28676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1800" b="1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171655"/>
                  </a:ext>
                </a:extLst>
              </a:tr>
            </a:tbl>
          </a:graphicData>
        </a:graphic>
      </p:graphicFrame>
      <p:sp>
        <p:nvSpPr>
          <p:cNvPr id="7" name="Right Brace 6">
            <a:extLst>
              <a:ext uri="{FF2B5EF4-FFF2-40B4-BE49-F238E27FC236}">
                <a16:creationId xmlns:a16="http://schemas.microsoft.com/office/drawing/2014/main" id="{5BC4D3A3-BB32-FCA3-F3A0-8573E531D6D2}"/>
              </a:ext>
            </a:extLst>
          </p:cNvPr>
          <p:cNvSpPr/>
          <p:nvPr/>
        </p:nvSpPr>
        <p:spPr>
          <a:xfrm>
            <a:off x="1709869" y="2005446"/>
            <a:ext cx="428343" cy="885721"/>
          </a:xfrm>
          <a:prstGeom prst="rightBrace">
            <a:avLst/>
          </a:prstGeom>
          <a:ln w="254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F3B4FB2-DB88-1D32-5621-242D8E382957}"/>
              </a:ext>
            </a:extLst>
          </p:cNvPr>
          <p:cNvSpPr/>
          <p:nvPr/>
        </p:nvSpPr>
        <p:spPr>
          <a:xfrm>
            <a:off x="1743357" y="3148896"/>
            <a:ext cx="428343" cy="885721"/>
          </a:xfrm>
          <a:prstGeom prst="rightBrace">
            <a:avLst/>
          </a:prstGeom>
          <a:ln w="254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34770985-6944-8E43-6E50-5B01D240CB04}"/>
              </a:ext>
            </a:extLst>
          </p:cNvPr>
          <p:cNvSpPr/>
          <p:nvPr/>
        </p:nvSpPr>
        <p:spPr>
          <a:xfrm>
            <a:off x="1722575" y="4281156"/>
            <a:ext cx="428343" cy="885721"/>
          </a:xfrm>
          <a:prstGeom prst="rightBrace">
            <a:avLst/>
          </a:prstGeom>
          <a:ln w="254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2C0F6CE-A861-F48A-B508-2CF1C414A80F}"/>
              </a:ext>
            </a:extLst>
          </p:cNvPr>
          <p:cNvSpPr/>
          <p:nvPr/>
        </p:nvSpPr>
        <p:spPr>
          <a:xfrm>
            <a:off x="1722574" y="5413416"/>
            <a:ext cx="428343" cy="885721"/>
          </a:xfrm>
          <a:prstGeom prst="rightBrace">
            <a:avLst/>
          </a:prstGeom>
          <a:ln w="254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91F98-04F4-D722-58B3-5D6340F8445B}"/>
              </a:ext>
            </a:extLst>
          </p:cNvPr>
          <p:cNvSpPr txBox="1"/>
          <p:nvPr/>
        </p:nvSpPr>
        <p:spPr>
          <a:xfrm>
            <a:off x="2137096" y="2196691"/>
            <a:ext cx="673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11</a:t>
            </a:r>
            <a:endParaRPr lang="en-PH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62BBB-C521-3A45-0FEF-110BC791D292}"/>
              </a:ext>
            </a:extLst>
          </p:cNvPr>
          <p:cNvSpPr txBox="1"/>
          <p:nvPr/>
        </p:nvSpPr>
        <p:spPr>
          <a:xfrm>
            <a:off x="2149226" y="3320418"/>
            <a:ext cx="673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21</a:t>
            </a:r>
            <a:endParaRPr lang="en-PH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FE0819-58B2-4863-7D82-5E9C3265FE98}"/>
              </a:ext>
            </a:extLst>
          </p:cNvPr>
          <p:cNvSpPr txBox="1"/>
          <p:nvPr/>
        </p:nvSpPr>
        <p:spPr>
          <a:xfrm>
            <a:off x="2132832" y="4461815"/>
            <a:ext cx="673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8</a:t>
            </a:r>
            <a:endParaRPr lang="en-PH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766F90-96C0-253E-735B-E917CC5EE607}"/>
              </a:ext>
            </a:extLst>
          </p:cNvPr>
          <p:cNvSpPr txBox="1"/>
          <p:nvPr/>
        </p:nvSpPr>
        <p:spPr>
          <a:xfrm>
            <a:off x="2155598" y="5594666"/>
            <a:ext cx="673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</a:t>
            </a:r>
            <a:endParaRPr lang="en-PH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197F9-BF6C-D3E4-B036-3AF8F4CCD433}"/>
              </a:ext>
            </a:extLst>
          </p:cNvPr>
          <p:cNvSpPr txBox="1"/>
          <p:nvPr/>
        </p:nvSpPr>
        <p:spPr>
          <a:xfrm>
            <a:off x="6057404" y="2960119"/>
            <a:ext cx="978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11</a:t>
            </a:r>
            <a:endParaRPr lang="en-PH" sz="2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965E4-06C3-39BD-027A-B20D078FB24B}"/>
              </a:ext>
            </a:extLst>
          </p:cNvPr>
          <p:cNvSpPr txBox="1"/>
          <p:nvPr/>
        </p:nvSpPr>
        <p:spPr>
          <a:xfrm>
            <a:off x="3822906" y="2935537"/>
            <a:ext cx="1511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15-18</a:t>
            </a:r>
            <a:endParaRPr lang="en-PH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2D626-9EE6-3A6B-48F8-98DCE134EAD2}"/>
              </a:ext>
            </a:extLst>
          </p:cNvPr>
          <p:cNvSpPr txBox="1"/>
          <p:nvPr/>
        </p:nvSpPr>
        <p:spPr>
          <a:xfrm>
            <a:off x="6072992" y="3711389"/>
            <a:ext cx="978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21</a:t>
            </a:r>
            <a:endParaRPr lang="en-PH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3CADF-47D7-5773-2A0D-1868BEB97CB4}"/>
              </a:ext>
            </a:extLst>
          </p:cNvPr>
          <p:cNvSpPr txBox="1"/>
          <p:nvPr/>
        </p:nvSpPr>
        <p:spPr>
          <a:xfrm>
            <a:off x="3838494" y="3686807"/>
            <a:ext cx="1511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19-22</a:t>
            </a:r>
            <a:endParaRPr lang="en-PH" sz="28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5DC433-3543-3150-B310-9E984E9B4758}"/>
              </a:ext>
            </a:extLst>
          </p:cNvPr>
          <p:cNvSpPr txBox="1"/>
          <p:nvPr/>
        </p:nvSpPr>
        <p:spPr>
          <a:xfrm>
            <a:off x="6089659" y="4440389"/>
            <a:ext cx="978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8</a:t>
            </a:r>
            <a:endParaRPr lang="en-PH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FEA31-B4B5-D8FF-1F2A-EDAC51CFA2FD}"/>
              </a:ext>
            </a:extLst>
          </p:cNvPr>
          <p:cNvSpPr txBox="1"/>
          <p:nvPr/>
        </p:nvSpPr>
        <p:spPr>
          <a:xfrm>
            <a:off x="3855161" y="4415807"/>
            <a:ext cx="1511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23-26</a:t>
            </a:r>
            <a:endParaRPr lang="en-PH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7BF79-6863-45C6-3C4E-AED5185D119A}"/>
              </a:ext>
            </a:extLst>
          </p:cNvPr>
          <p:cNvSpPr txBox="1"/>
          <p:nvPr/>
        </p:nvSpPr>
        <p:spPr>
          <a:xfrm>
            <a:off x="6079931" y="5168836"/>
            <a:ext cx="978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4</a:t>
            </a:r>
            <a:endParaRPr lang="en-PH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AB1FC-91C2-2A44-8B2F-F473CF8C38B5}"/>
              </a:ext>
            </a:extLst>
          </p:cNvPr>
          <p:cNvSpPr txBox="1"/>
          <p:nvPr/>
        </p:nvSpPr>
        <p:spPr>
          <a:xfrm>
            <a:off x="3845433" y="5144254"/>
            <a:ext cx="1511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27-30</a:t>
            </a:r>
            <a:endParaRPr lang="en-PH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A6650-CF85-01FA-3304-F38656CE647F}"/>
              </a:ext>
            </a:extLst>
          </p:cNvPr>
          <p:cNvSpPr txBox="1"/>
          <p:nvPr/>
        </p:nvSpPr>
        <p:spPr>
          <a:xfrm>
            <a:off x="7370778" y="2726487"/>
            <a:ext cx="3785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Sample Interpretation:</a:t>
            </a:r>
            <a:endParaRPr lang="en-PH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2D3C3-A240-19C8-BE7C-F61DC130FE8B}"/>
              </a:ext>
            </a:extLst>
          </p:cNvPr>
          <p:cNvSpPr txBox="1"/>
          <p:nvPr/>
        </p:nvSpPr>
        <p:spPr>
          <a:xfrm>
            <a:off x="7688892" y="3346876"/>
            <a:ext cx="36369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Eleven students fall in the age range of 15 to 18 years old.</a:t>
            </a:r>
            <a:endParaRPr lang="en-PH" sz="2000" b="1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5834E-B713-BAC5-44C2-6FEB33F326E7}"/>
              </a:ext>
            </a:extLst>
          </p:cNvPr>
          <p:cNvSpPr/>
          <p:nvPr/>
        </p:nvSpPr>
        <p:spPr>
          <a:xfrm>
            <a:off x="3768511" y="2999056"/>
            <a:ext cx="3089429" cy="571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9C8DB-7693-D33D-0AEC-0CCC6D0C0B1C}"/>
              </a:ext>
            </a:extLst>
          </p:cNvPr>
          <p:cNvSpPr txBox="1"/>
          <p:nvPr/>
        </p:nvSpPr>
        <p:spPr>
          <a:xfrm>
            <a:off x="7674480" y="5160560"/>
            <a:ext cx="36369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There are four class intervals.</a:t>
            </a:r>
            <a:endParaRPr lang="en-PH" sz="2000" b="1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CE832B-C34C-769B-64F6-C2F03324CD2F}"/>
              </a:ext>
            </a:extLst>
          </p:cNvPr>
          <p:cNvSpPr txBox="1"/>
          <p:nvPr/>
        </p:nvSpPr>
        <p:spPr>
          <a:xfrm>
            <a:off x="3912584" y="5924877"/>
            <a:ext cx="151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Total</a:t>
            </a:r>
            <a:endParaRPr lang="en-PH" sz="24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DB8D60-88B4-92D7-E0A2-E152B2F3CB8E}"/>
              </a:ext>
            </a:extLst>
          </p:cNvPr>
          <p:cNvSpPr txBox="1"/>
          <p:nvPr/>
        </p:nvSpPr>
        <p:spPr>
          <a:xfrm>
            <a:off x="5967903" y="5872922"/>
            <a:ext cx="978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</a:t>
            </a:r>
            <a:r>
              <a:rPr lang="en-US" sz="3600" i="1" dirty="0"/>
              <a:t>44</a:t>
            </a:r>
            <a:endParaRPr lang="en-PH" sz="2800" i="1" dirty="0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000F078C-802B-30E5-6C8C-EFEF531C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F1D1-E6F2-4083-9FB0-C81BC55B661C}" type="datetime1">
              <a:rPr lang="en-PH" smtClean="0"/>
              <a:t>12/03/2025</a:t>
            </a:fld>
            <a:endParaRPr lang="en-PH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59AA876-0F70-CAC7-99A2-5AE2170C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2C7197F8-4491-82D3-4F3E-4448B2F3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5</a:t>
            </a:fld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D1C7B8-5D0B-058F-9779-6ED57A71CDC5}"/>
              </a:ext>
            </a:extLst>
          </p:cNvPr>
          <p:cNvSpPr txBox="1"/>
          <p:nvPr/>
        </p:nvSpPr>
        <p:spPr>
          <a:xfrm>
            <a:off x="3173509" y="3124565"/>
            <a:ext cx="6109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endParaRPr lang="en-US" sz="14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endParaRPr lang="en-US" sz="12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1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701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10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10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3" grpId="0"/>
      <p:bldP spid="4" grpId="0"/>
      <p:bldP spid="12" grpId="0" animBg="1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4" y="114298"/>
            <a:ext cx="10671465" cy="2019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</a:rPr>
              <a:t>Table 3.4: </a:t>
            </a:r>
            <a:br>
              <a:rPr lang="en-US" sz="4800" b="1" kern="1200" dirty="0">
                <a:solidFill>
                  <a:schemeClr val="tx1"/>
                </a:solidFill>
              </a:rPr>
            </a:b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Frequency Distribution of Ages of 44 Students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/>
              <a:t>(grouped data, with classes)</a:t>
            </a:r>
            <a:endParaRPr lang="en-US" sz="5400" b="1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432029"/>
              </p:ext>
            </p:extLst>
          </p:nvPr>
        </p:nvGraphicFramePr>
        <p:xfrm>
          <a:off x="3807702" y="2109289"/>
          <a:ext cx="4572000" cy="3678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8352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1613648">
                  <a:extLst>
                    <a:ext uri="{9D8B030D-6E8A-4147-A177-3AD203B41FA5}">
                      <a16:colId xmlns:a16="http://schemas.microsoft.com/office/drawing/2014/main" val="112294919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Age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2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2563099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257190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6314988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8B69800D-9638-1994-CA75-764382A45BEE}"/>
              </a:ext>
            </a:extLst>
          </p:cNvPr>
          <p:cNvGrpSpPr/>
          <p:nvPr/>
        </p:nvGrpSpPr>
        <p:grpSpPr>
          <a:xfrm>
            <a:off x="4558898" y="2857737"/>
            <a:ext cx="3595958" cy="2941185"/>
            <a:chOff x="4558898" y="3373297"/>
            <a:chExt cx="3595958" cy="294118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D197F9-BF6C-D3E4-B036-3AF8F4CCD433}"/>
                </a:ext>
              </a:extLst>
            </p:cNvPr>
            <p:cNvSpPr txBox="1"/>
            <p:nvPr/>
          </p:nvSpPr>
          <p:spPr>
            <a:xfrm>
              <a:off x="7143604" y="3397879"/>
              <a:ext cx="978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11</a:t>
              </a:r>
              <a:endParaRPr lang="en-PH" sz="28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8965E4-06C3-39BD-027A-B20D078FB24B}"/>
                </a:ext>
              </a:extLst>
            </p:cNvPr>
            <p:cNvSpPr txBox="1"/>
            <p:nvPr/>
          </p:nvSpPr>
          <p:spPr>
            <a:xfrm>
              <a:off x="4558898" y="3373297"/>
              <a:ext cx="1511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15-18</a:t>
              </a:r>
              <a:endParaRPr lang="en-PH" sz="28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52D626-9EE6-3A6B-48F8-98DCE134EAD2}"/>
                </a:ext>
              </a:extLst>
            </p:cNvPr>
            <p:cNvSpPr txBox="1"/>
            <p:nvPr/>
          </p:nvSpPr>
          <p:spPr>
            <a:xfrm>
              <a:off x="7159192" y="4149149"/>
              <a:ext cx="978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21</a:t>
              </a:r>
              <a:endParaRPr lang="en-PH" sz="28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53CADF-47D7-5773-2A0D-1868BEB97CB4}"/>
                </a:ext>
              </a:extLst>
            </p:cNvPr>
            <p:cNvSpPr txBox="1"/>
            <p:nvPr/>
          </p:nvSpPr>
          <p:spPr>
            <a:xfrm>
              <a:off x="4574486" y="4124567"/>
              <a:ext cx="1511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19-22</a:t>
              </a:r>
              <a:endParaRPr lang="en-PH" sz="28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5DC433-3543-3150-B310-9E984E9B4758}"/>
                </a:ext>
              </a:extLst>
            </p:cNvPr>
            <p:cNvSpPr txBox="1"/>
            <p:nvPr/>
          </p:nvSpPr>
          <p:spPr>
            <a:xfrm>
              <a:off x="7175859" y="4878149"/>
              <a:ext cx="978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 8</a:t>
              </a:r>
              <a:endParaRPr lang="en-PH" sz="28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DFEA31-B4B5-D8FF-1F2A-EDAC51CFA2FD}"/>
                </a:ext>
              </a:extLst>
            </p:cNvPr>
            <p:cNvSpPr txBox="1"/>
            <p:nvPr/>
          </p:nvSpPr>
          <p:spPr>
            <a:xfrm>
              <a:off x="4591153" y="4853567"/>
              <a:ext cx="1511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23-26</a:t>
              </a:r>
              <a:endParaRPr lang="en-PH" sz="28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657BF79-6863-45C6-3C4E-AED5185D119A}"/>
                </a:ext>
              </a:extLst>
            </p:cNvPr>
            <p:cNvSpPr txBox="1"/>
            <p:nvPr/>
          </p:nvSpPr>
          <p:spPr>
            <a:xfrm>
              <a:off x="7166131" y="5606596"/>
              <a:ext cx="978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 4</a:t>
              </a:r>
              <a:endParaRPr lang="en-PH" sz="28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1AB1FC-91C2-2A44-8B2F-F473CF8C38B5}"/>
                </a:ext>
              </a:extLst>
            </p:cNvPr>
            <p:cNvSpPr txBox="1"/>
            <p:nvPr/>
          </p:nvSpPr>
          <p:spPr>
            <a:xfrm>
              <a:off x="4581425" y="5582014"/>
              <a:ext cx="15111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27-30</a:t>
              </a:r>
              <a:endParaRPr lang="en-PH" sz="2800" b="1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5C6969-F399-0DE3-9123-314FF3C5C7C6}"/>
              </a:ext>
            </a:extLst>
          </p:cNvPr>
          <p:cNvSpPr txBox="1"/>
          <p:nvPr/>
        </p:nvSpPr>
        <p:spPr>
          <a:xfrm>
            <a:off x="670551" y="2974652"/>
            <a:ext cx="2617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  <a:r>
              <a:rPr lang="en-US" sz="2800" b="1" baseline="30000" dirty="0"/>
              <a:t>st</a:t>
            </a:r>
            <a:r>
              <a:rPr lang="en-US" sz="2800" b="1" dirty="0"/>
              <a:t> Class Interval</a:t>
            </a:r>
            <a:endParaRPr lang="en-PH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5F28CA-C4C9-8FF1-E5C8-25CA8A20F0E6}"/>
              </a:ext>
            </a:extLst>
          </p:cNvPr>
          <p:cNvCxnSpPr>
            <a:cxnSpLocks/>
          </p:cNvCxnSpPr>
          <p:nvPr/>
        </p:nvCxnSpPr>
        <p:spPr>
          <a:xfrm>
            <a:off x="3258776" y="3236262"/>
            <a:ext cx="107355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8E2D2-6E8E-638D-CF93-F827CC6245AD}"/>
              </a:ext>
            </a:extLst>
          </p:cNvPr>
          <p:cNvSpPr/>
          <p:nvPr/>
        </p:nvSpPr>
        <p:spPr>
          <a:xfrm>
            <a:off x="7109773" y="2932109"/>
            <a:ext cx="798110" cy="2823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78BDA7-725F-8ABA-BD4E-6ABB32122F5D}"/>
              </a:ext>
            </a:extLst>
          </p:cNvPr>
          <p:cNvCxnSpPr>
            <a:cxnSpLocks/>
          </p:cNvCxnSpPr>
          <p:nvPr/>
        </p:nvCxnSpPr>
        <p:spPr>
          <a:xfrm flipH="1">
            <a:off x="7996136" y="2568102"/>
            <a:ext cx="1274324" cy="347888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F1847E0-3279-4D1B-4FBF-1B6061044947}"/>
              </a:ext>
            </a:extLst>
          </p:cNvPr>
          <p:cNvSpPr txBox="1"/>
          <p:nvPr/>
        </p:nvSpPr>
        <p:spPr>
          <a:xfrm>
            <a:off x="9173032" y="2095914"/>
            <a:ext cx="26174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Frequencies</a:t>
            </a:r>
            <a:endParaRPr lang="en-PH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3F949A-EC12-1A9B-3E72-54E0FAB9EA2C}"/>
              </a:ext>
            </a:extLst>
          </p:cNvPr>
          <p:cNvSpPr txBox="1"/>
          <p:nvPr/>
        </p:nvSpPr>
        <p:spPr>
          <a:xfrm>
            <a:off x="662511" y="3710357"/>
            <a:ext cx="2665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  <a:r>
              <a:rPr lang="en-US" sz="2800" b="1" baseline="30000" dirty="0"/>
              <a:t>nd</a:t>
            </a:r>
            <a:r>
              <a:rPr lang="en-US" sz="2800" b="1" dirty="0"/>
              <a:t> Class Interval</a:t>
            </a:r>
            <a:endParaRPr lang="en-PH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2EA6C7-5B52-E55D-F682-B80203380FBC}"/>
              </a:ext>
            </a:extLst>
          </p:cNvPr>
          <p:cNvCxnSpPr>
            <a:cxnSpLocks/>
          </p:cNvCxnSpPr>
          <p:nvPr/>
        </p:nvCxnSpPr>
        <p:spPr>
          <a:xfrm>
            <a:off x="3260464" y="3971967"/>
            <a:ext cx="107355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9544AAD-A905-198C-0EC5-D29E07287228}"/>
              </a:ext>
            </a:extLst>
          </p:cNvPr>
          <p:cNvSpPr txBox="1"/>
          <p:nvPr/>
        </p:nvSpPr>
        <p:spPr>
          <a:xfrm>
            <a:off x="672239" y="4431730"/>
            <a:ext cx="2617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</a:t>
            </a:r>
            <a:r>
              <a:rPr lang="en-US" sz="2800" b="1" baseline="30000" dirty="0"/>
              <a:t>rd</a:t>
            </a:r>
            <a:r>
              <a:rPr lang="en-US" sz="2800" b="1" dirty="0"/>
              <a:t> Class Interval</a:t>
            </a:r>
            <a:endParaRPr lang="en-PH" b="1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514387-9BD7-F3AD-D266-C24B4F907E69}"/>
              </a:ext>
            </a:extLst>
          </p:cNvPr>
          <p:cNvCxnSpPr>
            <a:cxnSpLocks/>
          </p:cNvCxnSpPr>
          <p:nvPr/>
        </p:nvCxnSpPr>
        <p:spPr>
          <a:xfrm>
            <a:off x="3260464" y="4693340"/>
            <a:ext cx="107355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D37EC3C-E8BC-09E8-DDC3-F38CD80B6C9A}"/>
              </a:ext>
            </a:extLst>
          </p:cNvPr>
          <p:cNvSpPr txBox="1"/>
          <p:nvPr/>
        </p:nvSpPr>
        <p:spPr>
          <a:xfrm>
            <a:off x="672239" y="5108636"/>
            <a:ext cx="2617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</a:t>
            </a:r>
            <a:r>
              <a:rPr lang="en-US" sz="2800" b="1" baseline="30000" dirty="0"/>
              <a:t>th</a:t>
            </a:r>
            <a:r>
              <a:rPr lang="en-US" sz="2800" b="1" dirty="0"/>
              <a:t> Class Interval</a:t>
            </a:r>
            <a:endParaRPr lang="en-PH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EACBED-03C1-F3FE-011A-22D283F5357F}"/>
              </a:ext>
            </a:extLst>
          </p:cNvPr>
          <p:cNvCxnSpPr>
            <a:cxnSpLocks/>
          </p:cNvCxnSpPr>
          <p:nvPr/>
        </p:nvCxnSpPr>
        <p:spPr>
          <a:xfrm>
            <a:off x="3260464" y="5370246"/>
            <a:ext cx="107355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CFFC08F-E03E-9A90-B12C-252B8DE77B0F}"/>
              </a:ext>
            </a:extLst>
          </p:cNvPr>
          <p:cNvSpPr/>
          <p:nvPr/>
        </p:nvSpPr>
        <p:spPr>
          <a:xfrm>
            <a:off x="4599192" y="2958114"/>
            <a:ext cx="601627" cy="2823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C393C6-0839-1DD1-7505-B619ECF276AB}"/>
              </a:ext>
            </a:extLst>
          </p:cNvPr>
          <p:cNvSpPr/>
          <p:nvPr/>
        </p:nvSpPr>
        <p:spPr>
          <a:xfrm>
            <a:off x="5303059" y="2952707"/>
            <a:ext cx="601627" cy="2823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A4C1B7-F5B9-21CD-1700-825942A7290A}"/>
              </a:ext>
            </a:extLst>
          </p:cNvPr>
          <p:cNvSpPr txBox="1"/>
          <p:nvPr/>
        </p:nvSpPr>
        <p:spPr>
          <a:xfrm>
            <a:off x="1756060" y="5926660"/>
            <a:ext cx="274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Lower Class Limit</a:t>
            </a:r>
            <a:endParaRPr lang="en-PH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0B1F08-3C72-F6BB-EC84-A321609A022E}"/>
              </a:ext>
            </a:extLst>
          </p:cNvPr>
          <p:cNvSpPr txBox="1"/>
          <p:nvPr/>
        </p:nvSpPr>
        <p:spPr>
          <a:xfrm>
            <a:off x="6032655" y="5950430"/>
            <a:ext cx="3179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Upper Class Limit</a:t>
            </a:r>
            <a:endParaRPr lang="en-PH" b="1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A34835B-E576-58E3-9663-2EE03CF62F43}"/>
              </a:ext>
            </a:extLst>
          </p:cNvPr>
          <p:cNvCxnSpPr>
            <a:cxnSpLocks/>
          </p:cNvCxnSpPr>
          <p:nvPr/>
        </p:nvCxnSpPr>
        <p:spPr>
          <a:xfrm flipV="1">
            <a:off x="4464996" y="5871847"/>
            <a:ext cx="400191" cy="327991"/>
          </a:xfrm>
          <a:prstGeom prst="bentConnector3">
            <a:avLst>
              <a:gd name="adj1" fmla="val 99672"/>
            </a:avLst>
          </a:prstGeom>
          <a:ln w="317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76F2BE7-A0C2-CEB8-87CE-84665EF1F6A0}"/>
              </a:ext>
            </a:extLst>
          </p:cNvPr>
          <p:cNvCxnSpPr>
            <a:cxnSpLocks/>
          </p:cNvCxnSpPr>
          <p:nvPr/>
        </p:nvCxnSpPr>
        <p:spPr>
          <a:xfrm rot="10800000">
            <a:off x="5623750" y="5843691"/>
            <a:ext cx="427728" cy="378289"/>
          </a:xfrm>
          <a:prstGeom prst="bentConnector3">
            <a:avLst>
              <a:gd name="adj1" fmla="val 98798"/>
            </a:avLst>
          </a:prstGeom>
          <a:ln w="317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DF1B19-0C4D-9229-F8E9-B4C06547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D4B2-DBF1-4A99-8514-29F8BF2383FC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EB28B-18DE-E4C8-1BC5-38BD7D54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E8B30-625A-459D-23CC-74E4171D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76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5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64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 animBg="1"/>
      <p:bldP spid="32" grpId="0"/>
      <p:bldP spid="33" grpId="0"/>
      <p:bldP spid="35" grpId="0"/>
      <p:bldP spid="37" grpId="0"/>
      <p:bldP spid="39" grpId="0" animBg="1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957" y="-10394"/>
            <a:ext cx="7917652" cy="10392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Boundaries</a:t>
            </a:r>
            <a:endParaRPr lang="en-US" sz="5400" b="1" u="sng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01919"/>
              </p:ext>
            </p:extLst>
          </p:nvPr>
        </p:nvGraphicFramePr>
        <p:xfrm>
          <a:off x="4607392" y="1123749"/>
          <a:ext cx="5804236" cy="41622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2656522">
                  <a:extLst>
                    <a:ext uri="{9D8B030D-6E8A-4147-A177-3AD203B41FA5}">
                      <a16:colId xmlns:a16="http://schemas.microsoft.com/office/drawing/2014/main" val="3757619919"/>
                    </a:ext>
                  </a:extLst>
                </a:gridCol>
                <a:gridCol w="1626254">
                  <a:extLst>
                    <a:ext uri="{9D8B030D-6E8A-4147-A177-3AD203B41FA5}">
                      <a16:colId xmlns:a16="http://schemas.microsoft.com/office/drawing/2014/main" val="112294919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Limits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Boundaries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2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15-18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11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19-22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21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2563099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23-26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257190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27-30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31498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68965E4-06C3-39BD-027A-B20D078FB24B}"/>
              </a:ext>
            </a:extLst>
          </p:cNvPr>
          <p:cNvSpPr txBox="1"/>
          <p:nvPr/>
        </p:nvSpPr>
        <p:spPr>
          <a:xfrm>
            <a:off x="6349074" y="2389942"/>
            <a:ext cx="2375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14.5-18.5</a:t>
            </a:r>
            <a:endParaRPr lang="en-PH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3CADF-47D7-5773-2A0D-1868BEB97CB4}"/>
              </a:ext>
            </a:extLst>
          </p:cNvPr>
          <p:cNvSpPr txBox="1"/>
          <p:nvPr/>
        </p:nvSpPr>
        <p:spPr>
          <a:xfrm>
            <a:off x="6321162" y="3126593"/>
            <a:ext cx="2189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18.5-22.5</a:t>
            </a:r>
            <a:endParaRPr lang="en-PH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FEA31-B4B5-D8FF-1F2A-EDAC51CFA2FD}"/>
              </a:ext>
            </a:extLst>
          </p:cNvPr>
          <p:cNvSpPr txBox="1"/>
          <p:nvPr/>
        </p:nvSpPr>
        <p:spPr>
          <a:xfrm>
            <a:off x="6369442" y="3840781"/>
            <a:ext cx="2189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22.5-26.5</a:t>
            </a:r>
            <a:endParaRPr lang="en-PH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AB1FC-91C2-2A44-8B2F-F473CF8C38B5}"/>
              </a:ext>
            </a:extLst>
          </p:cNvPr>
          <p:cNvSpPr txBox="1"/>
          <p:nvPr/>
        </p:nvSpPr>
        <p:spPr>
          <a:xfrm>
            <a:off x="6338683" y="4567140"/>
            <a:ext cx="2172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26.5-30.5</a:t>
            </a:r>
            <a:endParaRPr lang="en-PH" sz="28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FFC08F-E03E-9A90-B12C-252B8DE77B0F}"/>
              </a:ext>
            </a:extLst>
          </p:cNvPr>
          <p:cNvSpPr/>
          <p:nvPr/>
        </p:nvSpPr>
        <p:spPr>
          <a:xfrm>
            <a:off x="6390224" y="2449216"/>
            <a:ext cx="965543" cy="2823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C393C6-0839-1DD1-7505-B619ECF276AB}"/>
              </a:ext>
            </a:extLst>
          </p:cNvPr>
          <p:cNvSpPr/>
          <p:nvPr/>
        </p:nvSpPr>
        <p:spPr>
          <a:xfrm>
            <a:off x="7458322" y="2462035"/>
            <a:ext cx="1052733" cy="2823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A4C1B7-F5B9-21CD-1700-825942A7290A}"/>
              </a:ext>
            </a:extLst>
          </p:cNvPr>
          <p:cNvSpPr txBox="1"/>
          <p:nvPr/>
        </p:nvSpPr>
        <p:spPr>
          <a:xfrm>
            <a:off x="3235331" y="5425816"/>
            <a:ext cx="3490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Lower Class Boundary</a:t>
            </a:r>
            <a:endParaRPr lang="en-PH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0B1F08-3C72-F6BB-EC84-A321609A022E}"/>
              </a:ext>
            </a:extLst>
          </p:cNvPr>
          <p:cNvSpPr txBox="1"/>
          <p:nvPr/>
        </p:nvSpPr>
        <p:spPr>
          <a:xfrm>
            <a:off x="8143515" y="5449744"/>
            <a:ext cx="3755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Upper Class Boundary</a:t>
            </a:r>
            <a:endParaRPr lang="en-PH" b="1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A34835B-E576-58E3-9663-2EE03CF62F43}"/>
              </a:ext>
            </a:extLst>
          </p:cNvPr>
          <p:cNvCxnSpPr>
            <a:cxnSpLocks/>
          </p:cNvCxnSpPr>
          <p:nvPr/>
        </p:nvCxnSpPr>
        <p:spPr>
          <a:xfrm flipV="1">
            <a:off x="6631458" y="5332432"/>
            <a:ext cx="400191" cy="327991"/>
          </a:xfrm>
          <a:prstGeom prst="bentConnector3">
            <a:avLst>
              <a:gd name="adj1" fmla="val 99672"/>
            </a:avLst>
          </a:prstGeom>
          <a:ln w="317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76F2BE7-A0C2-CEB8-87CE-84665EF1F6A0}"/>
              </a:ext>
            </a:extLst>
          </p:cNvPr>
          <p:cNvCxnSpPr>
            <a:cxnSpLocks/>
          </p:cNvCxnSpPr>
          <p:nvPr/>
        </p:nvCxnSpPr>
        <p:spPr>
          <a:xfrm rot="10800000">
            <a:off x="7746960" y="5358070"/>
            <a:ext cx="427728" cy="378289"/>
          </a:xfrm>
          <a:prstGeom prst="bentConnector3">
            <a:avLst>
              <a:gd name="adj1" fmla="val 98798"/>
            </a:avLst>
          </a:prstGeom>
          <a:ln w="317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CD5289-90FF-19F4-59F1-2F00B5D2050D}"/>
              </a:ext>
            </a:extLst>
          </p:cNvPr>
          <p:cNvSpPr txBox="1"/>
          <p:nvPr/>
        </p:nvSpPr>
        <p:spPr>
          <a:xfrm>
            <a:off x="677480" y="688467"/>
            <a:ext cx="3689579" cy="28931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Class </a:t>
            </a:r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oundary is always carried out to </a:t>
            </a:r>
            <a:r>
              <a:rPr lang="en-PH" sz="26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half the place number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of the last digit of the upper class limit (minus that for the lower class limit). </a:t>
            </a:r>
            <a:endParaRPr lang="en-PH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15D24-8AA3-AD21-F788-6229A3F08EA5}"/>
              </a:ext>
            </a:extLst>
          </p:cNvPr>
          <p:cNvSpPr txBox="1"/>
          <p:nvPr/>
        </p:nvSpPr>
        <p:spPr>
          <a:xfrm>
            <a:off x="666017" y="3657128"/>
            <a:ext cx="349037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The class limits are rounded to the </a:t>
            </a:r>
            <a:r>
              <a:rPr lang="en-US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place. S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en-PH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/2 = 0.5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78DE4-BBC5-8D95-A72F-ECE8BAB57482}"/>
              </a:ext>
            </a:extLst>
          </p:cNvPr>
          <p:cNvSpPr txBox="1"/>
          <p:nvPr/>
        </p:nvSpPr>
        <p:spPr>
          <a:xfrm>
            <a:off x="681504" y="5027431"/>
            <a:ext cx="32873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15 – 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0.5 = 14.5</a:t>
            </a:r>
          </a:p>
          <a:p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  <a:p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18 + 0.5 = 18.5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6AA56-3B7F-EB5D-F8B9-3A398837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396CC-EE97-41D3-A204-06440DCAB334}" type="datetime1">
              <a:rPr lang="en-PH" smtClean="0"/>
              <a:t>12/03/2025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9CEEC-03B5-A403-4232-2B04FFA1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5241D2-19C0-8317-A0D8-4A9B3025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624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54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6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1" grpId="0"/>
      <p:bldP spid="23" grpId="0"/>
      <p:bldP spid="25" grpId="0"/>
      <p:bldP spid="39" grpId="0" animBg="1"/>
      <p:bldP spid="40" grpId="0" animBg="1"/>
      <p:bldP spid="41" grpId="0"/>
      <p:bldP spid="42" grpId="0"/>
      <p:bldP spid="6" grpId="0" animBg="1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70" y="-10394"/>
            <a:ext cx="10928840" cy="10392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Boundaries: </a:t>
            </a:r>
            <a:r>
              <a:rPr lang="en-US" sz="3600" b="1" dirty="0"/>
              <a:t>(more examples)</a:t>
            </a:r>
            <a:endParaRPr lang="en-US" sz="4000" b="1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940101"/>
              </p:ext>
            </p:extLst>
          </p:nvPr>
        </p:nvGraphicFramePr>
        <p:xfrm>
          <a:off x="490769" y="1171852"/>
          <a:ext cx="5450257" cy="1954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9960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3230297">
                  <a:extLst>
                    <a:ext uri="{9D8B030D-6E8A-4147-A177-3AD203B41FA5}">
                      <a16:colId xmlns:a16="http://schemas.microsoft.com/office/drawing/2014/main" val="375761991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algn="ctr"/>
                      <a:r>
                        <a:rPr lang="en-PH" sz="4000">
                          <a:solidFill>
                            <a:srgbClr val="FFFF00"/>
                          </a:solidFill>
                          <a:effectLst/>
                        </a:rPr>
                        <a:t>Limits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Boundaries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11.4-16.4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68965E4-06C3-39BD-027A-B20D078FB24B}"/>
              </a:ext>
            </a:extLst>
          </p:cNvPr>
          <p:cNvSpPr txBox="1"/>
          <p:nvPr/>
        </p:nvSpPr>
        <p:spPr>
          <a:xfrm>
            <a:off x="2988891" y="2386544"/>
            <a:ext cx="3262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11.35-16.45</a:t>
            </a:r>
            <a:endParaRPr lang="en-PH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0A90A-455F-4C13-B821-893ACF688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495363"/>
              </p:ext>
            </p:extLst>
          </p:nvPr>
        </p:nvGraphicFramePr>
        <p:xfrm>
          <a:off x="490769" y="4005183"/>
          <a:ext cx="5406991" cy="1954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19960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3187031">
                  <a:extLst>
                    <a:ext uri="{9D8B030D-6E8A-4147-A177-3AD203B41FA5}">
                      <a16:colId xmlns:a16="http://schemas.microsoft.com/office/drawing/2014/main" val="375761991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algn="ctr"/>
                      <a:r>
                        <a:rPr lang="en-PH" sz="4000">
                          <a:solidFill>
                            <a:srgbClr val="FFFF00"/>
                          </a:solidFill>
                          <a:effectLst/>
                        </a:rPr>
                        <a:t>Limits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Boundaries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4.98-9.31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9E4516-850F-85B2-4BB7-C880B287A9D8}"/>
              </a:ext>
            </a:extLst>
          </p:cNvPr>
          <p:cNvSpPr txBox="1"/>
          <p:nvPr/>
        </p:nvSpPr>
        <p:spPr>
          <a:xfrm>
            <a:off x="2988890" y="5252254"/>
            <a:ext cx="3262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4.975-9.315</a:t>
            </a:r>
            <a:endParaRPr lang="en-PH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2BF9C-7233-E258-ACED-86BD13F0E3A7}"/>
              </a:ext>
            </a:extLst>
          </p:cNvPr>
          <p:cNvSpPr txBox="1"/>
          <p:nvPr/>
        </p:nvSpPr>
        <p:spPr>
          <a:xfrm>
            <a:off x="6250975" y="1110704"/>
            <a:ext cx="3671238" cy="12926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The class limits are rounded to the </a:t>
            </a:r>
            <a:r>
              <a:rPr lang="en-US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tenths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place. S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en-PH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/2 = 0.05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EFBBC-1B82-7627-BE50-4863607D5913}"/>
              </a:ext>
            </a:extLst>
          </p:cNvPr>
          <p:cNvSpPr txBox="1"/>
          <p:nvPr/>
        </p:nvSpPr>
        <p:spPr>
          <a:xfrm>
            <a:off x="6266462" y="2489470"/>
            <a:ext cx="32873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11.4 – 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0.05 = 11.35</a:t>
            </a:r>
          </a:p>
          <a:p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16.4 + 0.05 = 16.45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91F72-044D-11CF-EFA7-D975E26429E9}"/>
              </a:ext>
            </a:extLst>
          </p:cNvPr>
          <p:cNvSpPr txBox="1"/>
          <p:nvPr/>
        </p:nvSpPr>
        <p:spPr>
          <a:xfrm>
            <a:off x="6250975" y="3869028"/>
            <a:ext cx="4572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The class limits are rounded to the </a:t>
            </a:r>
            <a:r>
              <a:rPr lang="en-US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hundredths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place. S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o, </a:t>
            </a:r>
            <a:r>
              <a:rPr lang="en-PH" sz="2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/2 = 0.005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C8B563-C1B2-EEEA-7D0E-B5D2C01AE449}"/>
              </a:ext>
            </a:extLst>
          </p:cNvPr>
          <p:cNvSpPr txBox="1"/>
          <p:nvPr/>
        </p:nvSpPr>
        <p:spPr>
          <a:xfrm>
            <a:off x="6266462" y="5267612"/>
            <a:ext cx="32873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4.98 – 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0.005 = 4.975</a:t>
            </a:r>
          </a:p>
          <a:p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9.31 + 0.005 = 9.315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8387E-7571-DFC3-AE75-E68EF316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5885-5BC9-4FCC-A0DD-D7FA7DA0DF0F}" type="datetime1">
              <a:rPr lang="en-PH" smtClean="0"/>
              <a:t>12/03/2025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B0FD5-9746-3BBA-6B22-C9DF89C3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33C01-3D53-6C41-C5EC-5279CF4E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887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8" grpId="0"/>
      <p:bldP spid="9" grpId="0" animBg="1"/>
      <p:bldP spid="10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857" y="-10394"/>
            <a:ext cx="9405752" cy="10392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Width</a:t>
            </a:r>
            <a:endParaRPr lang="en-US" sz="5400" b="1" u="sng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50054"/>
              </p:ext>
            </p:extLst>
          </p:nvPr>
        </p:nvGraphicFramePr>
        <p:xfrm>
          <a:off x="5336737" y="1123749"/>
          <a:ext cx="5804236" cy="41622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2656522">
                  <a:extLst>
                    <a:ext uri="{9D8B030D-6E8A-4147-A177-3AD203B41FA5}">
                      <a16:colId xmlns:a16="http://schemas.microsoft.com/office/drawing/2014/main" val="3757619919"/>
                    </a:ext>
                  </a:extLst>
                </a:gridCol>
                <a:gridCol w="1626254">
                  <a:extLst>
                    <a:ext uri="{9D8B030D-6E8A-4147-A177-3AD203B41FA5}">
                      <a16:colId xmlns:a16="http://schemas.microsoft.com/office/drawing/2014/main" val="112294919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algn="ctr"/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Limits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4000" dirty="0">
                          <a:solidFill>
                            <a:srgbClr val="FFFF00"/>
                          </a:solidFill>
                          <a:effectLst/>
                        </a:rPr>
                        <a:t>Boundaries</a:t>
                      </a:r>
                      <a:endParaRPr lang="en-PH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2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15-18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11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19-22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21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2563099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23-26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257190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27-30</a:t>
                      </a:r>
                      <a:endParaRPr lang="en-PH" sz="40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4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n-PH" sz="40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31498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68965E4-06C3-39BD-027A-B20D078FB24B}"/>
              </a:ext>
            </a:extLst>
          </p:cNvPr>
          <p:cNvSpPr txBox="1"/>
          <p:nvPr/>
        </p:nvSpPr>
        <p:spPr>
          <a:xfrm>
            <a:off x="7078419" y="2389942"/>
            <a:ext cx="2375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14.5-18.5</a:t>
            </a:r>
            <a:endParaRPr lang="en-PH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3CADF-47D7-5773-2A0D-1868BEB97CB4}"/>
              </a:ext>
            </a:extLst>
          </p:cNvPr>
          <p:cNvSpPr txBox="1"/>
          <p:nvPr/>
        </p:nvSpPr>
        <p:spPr>
          <a:xfrm>
            <a:off x="7050507" y="3126593"/>
            <a:ext cx="2189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18.5-22.5</a:t>
            </a:r>
            <a:endParaRPr lang="en-PH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FEA31-B4B5-D8FF-1F2A-EDAC51CFA2FD}"/>
              </a:ext>
            </a:extLst>
          </p:cNvPr>
          <p:cNvSpPr txBox="1"/>
          <p:nvPr/>
        </p:nvSpPr>
        <p:spPr>
          <a:xfrm>
            <a:off x="7098787" y="3840781"/>
            <a:ext cx="2189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22.5-26.5</a:t>
            </a:r>
            <a:endParaRPr lang="en-PH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AB1FC-91C2-2A44-8B2F-F473CF8C38B5}"/>
              </a:ext>
            </a:extLst>
          </p:cNvPr>
          <p:cNvSpPr txBox="1"/>
          <p:nvPr/>
        </p:nvSpPr>
        <p:spPr>
          <a:xfrm>
            <a:off x="7068028" y="4567140"/>
            <a:ext cx="2172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26.5-30.5</a:t>
            </a:r>
            <a:endParaRPr lang="en-PH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D5289-90FF-19F4-59F1-2F00B5D2050D}"/>
              </a:ext>
            </a:extLst>
          </p:cNvPr>
          <p:cNvSpPr txBox="1"/>
          <p:nvPr/>
        </p:nvSpPr>
        <p:spPr>
          <a:xfrm>
            <a:off x="711866" y="373855"/>
            <a:ext cx="4384377" cy="209288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lass </a:t>
            </a:r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idth </a:t>
            </a:r>
            <a:r>
              <a:rPr lang="en-PH" sz="26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(c)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the difference between the upper class boundary and the lower class boundary of any class interval.</a:t>
            </a:r>
            <a:endParaRPr lang="en-PH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15D24-8AA3-AD21-F788-6229A3F08EA5}"/>
              </a:ext>
            </a:extLst>
          </p:cNvPr>
          <p:cNvSpPr txBox="1"/>
          <p:nvPr/>
        </p:nvSpPr>
        <p:spPr>
          <a:xfrm>
            <a:off x="689575" y="2437774"/>
            <a:ext cx="4306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Ex.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18.5 – 14.5 = 4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71DAF-F68C-589C-BC74-14CAB16B21C4}"/>
              </a:ext>
            </a:extLst>
          </p:cNvPr>
          <p:cNvSpPr/>
          <p:nvPr/>
        </p:nvSpPr>
        <p:spPr>
          <a:xfrm>
            <a:off x="4214422" y="2487434"/>
            <a:ext cx="448354" cy="444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623DD-CCC0-E448-B21B-7D4CC781E71A}"/>
              </a:ext>
            </a:extLst>
          </p:cNvPr>
          <p:cNvSpPr txBox="1"/>
          <p:nvPr/>
        </p:nvSpPr>
        <p:spPr>
          <a:xfrm>
            <a:off x="657077" y="3137508"/>
            <a:ext cx="44928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lass </a:t>
            </a:r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idth </a:t>
            </a:r>
            <a:r>
              <a:rPr lang="en-PH" sz="26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(c)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may also be obtained by getting the difference between any </a:t>
            </a:r>
            <a:r>
              <a:rPr lang="en-PH" sz="26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consecutive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lower limits (or upper class limits).</a:t>
            </a:r>
            <a:endParaRPr lang="en-PH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078A4-0A83-2D10-3DCE-C79D40FDC508}"/>
              </a:ext>
            </a:extLst>
          </p:cNvPr>
          <p:cNvSpPr txBox="1"/>
          <p:nvPr/>
        </p:nvSpPr>
        <p:spPr>
          <a:xfrm>
            <a:off x="657077" y="5244323"/>
            <a:ext cx="3881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Ex.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19 – 15 = 4</a:t>
            </a:r>
          </a:p>
          <a:p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	c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= 30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– 26 = 4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3564A7-9CA4-97EE-7EFA-88518DF2A835}"/>
              </a:ext>
            </a:extLst>
          </p:cNvPr>
          <p:cNvSpPr/>
          <p:nvPr/>
        </p:nvSpPr>
        <p:spPr>
          <a:xfrm>
            <a:off x="3612709" y="5315133"/>
            <a:ext cx="448354" cy="8234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4373C-4E12-D4E2-0627-99B660A07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6F2F-4432-4E18-B251-25D561415B19}" type="datetime1">
              <a:rPr lang="en-PH" smtClean="0"/>
              <a:t>12/03/2025</a:t>
            </a:fld>
            <a:endParaRPr lang="en-P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46F9D83-7329-24F8-7001-77037814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76C3FB6-2886-B005-32E4-64958A6B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980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9" grpId="0"/>
      <p:bldP spid="3" grpId="0" animBg="1"/>
      <p:bldP spid="4" grpId="0"/>
      <p:bldP spid="8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75" y="-10394"/>
            <a:ext cx="3689331" cy="10392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Mark</a:t>
            </a:r>
            <a:endParaRPr lang="en-US" sz="5400" b="1" u="sng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48C40-14AE-DAE8-F14C-7C93E7E31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6473"/>
              </p:ext>
            </p:extLst>
          </p:nvPr>
        </p:nvGraphicFramePr>
        <p:xfrm>
          <a:off x="5352228" y="468338"/>
          <a:ext cx="5804236" cy="36093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8470">
                  <a:extLst>
                    <a:ext uri="{9D8B030D-6E8A-4147-A177-3AD203B41FA5}">
                      <a16:colId xmlns:a16="http://schemas.microsoft.com/office/drawing/2014/main" val="1898797323"/>
                    </a:ext>
                  </a:extLst>
                </a:gridCol>
                <a:gridCol w="2075110">
                  <a:extLst>
                    <a:ext uri="{9D8B030D-6E8A-4147-A177-3AD203B41FA5}">
                      <a16:colId xmlns:a16="http://schemas.microsoft.com/office/drawing/2014/main" val="3757619919"/>
                    </a:ext>
                  </a:extLst>
                </a:gridCol>
                <a:gridCol w="1270328">
                  <a:extLst>
                    <a:ext uri="{9D8B030D-6E8A-4147-A177-3AD203B41FA5}">
                      <a16:colId xmlns:a16="http://schemas.microsoft.com/office/drawing/2014/main" val="281052786"/>
                    </a:ext>
                  </a:extLst>
                </a:gridCol>
                <a:gridCol w="1270328">
                  <a:extLst>
                    <a:ext uri="{9D8B030D-6E8A-4147-A177-3AD203B41FA5}">
                      <a16:colId xmlns:a16="http://schemas.microsoft.com/office/drawing/2014/main" val="1122949199"/>
                    </a:ext>
                  </a:extLst>
                </a:gridCol>
              </a:tblGrid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algn="ctr"/>
                      <a:r>
                        <a:rPr lang="en-PH" sz="2400" dirty="0">
                          <a:solidFill>
                            <a:srgbClr val="FFFF00"/>
                          </a:solidFill>
                          <a:effectLst/>
                        </a:rPr>
                        <a:t>Limits</a:t>
                      </a:r>
                      <a:endParaRPr lang="en-PH" sz="24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400" dirty="0">
                          <a:solidFill>
                            <a:srgbClr val="FFFF00"/>
                          </a:solidFill>
                          <a:effectLst/>
                        </a:rPr>
                        <a:t>Class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400" dirty="0">
                          <a:solidFill>
                            <a:srgbClr val="FFFF00"/>
                          </a:solidFill>
                          <a:effectLst/>
                        </a:rPr>
                        <a:t>Boundaries</a:t>
                      </a:r>
                      <a:endParaRPr lang="en-PH" sz="24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solidFill>
                            <a:srgbClr val="FFFF00"/>
                          </a:solidFill>
                          <a:effectLst/>
                        </a:rPr>
                        <a:t>Class Mark</a:t>
                      </a:r>
                      <a:endParaRPr lang="en-PH" sz="28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i="1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PH" sz="2400" i="1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3439223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15-18</a:t>
                      </a:r>
                      <a:endParaRPr lang="en-PH" sz="3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14.5-18.5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3377515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19-22</a:t>
                      </a:r>
                      <a:endParaRPr lang="en-PH" sz="3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Times New Roman" panose="02020603050405020304" pitchFamily="18" charset="0"/>
                          <a:cs typeface="+mn-cs"/>
                        </a:rPr>
                        <a:t>18.5-22.5</a:t>
                      </a:r>
                      <a:endParaRPr kumimoji="0" lang="en-PH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2563099"/>
                  </a:ext>
                </a:extLst>
              </a:tr>
              <a:tr h="5396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23-26</a:t>
                      </a:r>
                      <a:endParaRPr lang="en-PH" sz="3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Times New Roman" panose="02020603050405020304" pitchFamily="18" charset="0"/>
                          <a:cs typeface="+mn-cs"/>
                        </a:rPr>
                        <a:t>22.5-26.5</a:t>
                      </a:r>
                      <a:endParaRPr kumimoji="0" lang="en-PH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257190"/>
                  </a:ext>
                </a:extLst>
              </a:tr>
              <a:tr h="73575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27-30</a:t>
                      </a:r>
                      <a:endParaRPr lang="en-PH" sz="3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Times New Roman" panose="02020603050405020304" pitchFamily="18" charset="0"/>
                          <a:cs typeface="+mn-cs"/>
                        </a:rPr>
                        <a:t>26.5-30.5</a:t>
                      </a:r>
                      <a:endParaRPr kumimoji="0" lang="en-PH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3149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CD5289-90FF-19F4-59F1-2F00B5D2050D}"/>
              </a:ext>
            </a:extLst>
          </p:cNvPr>
          <p:cNvSpPr txBox="1"/>
          <p:nvPr/>
        </p:nvSpPr>
        <p:spPr>
          <a:xfrm>
            <a:off x="814575" y="1090016"/>
            <a:ext cx="4039530" cy="12926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lass </a:t>
            </a:r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Mark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the midpoint of the class limits of a class interval.</a:t>
            </a:r>
            <a:endParaRPr lang="en-PH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15D24-8AA3-AD21-F788-6229A3F08EA5}"/>
              </a:ext>
            </a:extLst>
          </p:cNvPr>
          <p:cNvSpPr txBox="1"/>
          <p:nvPr/>
        </p:nvSpPr>
        <p:spPr>
          <a:xfrm>
            <a:off x="624732" y="2421500"/>
            <a:ext cx="4460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Class Mark of the 1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class interval</a:t>
            </a:r>
          </a:p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15 + 18)/2 = 16.5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71DAF-F68C-589C-BC74-14CAB16B21C4}"/>
              </a:ext>
            </a:extLst>
          </p:cNvPr>
          <p:cNvSpPr/>
          <p:nvPr/>
        </p:nvSpPr>
        <p:spPr>
          <a:xfrm>
            <a:off x="2931291" y="2792129"/>
            <a:ext cx="817072" cy="444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6C1C5-D12D-1D90-F0BD-1A3D1D0959DB}"/>
              </a:ext>
            </a:extLst>
          </p:cNvPr>
          <p:cNvSpPr txBox="1"/>
          <p:nvPr/>
        </p:nvSpPr>
        <p:spPr>
          <a:xfrm>
            <a:off x="844846" y="3281020"/>
            <a:ext cx="403953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lass </a:t>
            </a:r>
            <a:r>
              <a:rPr lang="en-PH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mark</a:t>
            </a:r>
            <a:r>
              <a:rPr lang="en-PH" sz="2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may also be obtained by getting the average of the class boundaries of a class interval.</a:t>
            </a:r>
            <a:endParaRPr lang="en-PH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DD918-8999-7278-A58C-9A47732302CA}"/>
              </a:ext>
            </a:extLst>
          </p:cNvPr>
          <p:cNvSpPr txBox="1"/>
          <p:nvPr/>
        </p:nvSpPr>
        <p:spPr>
          <a:xfrm>
            <a:off x="653511" y="5309150"/>
            <a:ext cx="4460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Class Mark of the 4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class interval</a:t>
            </a:r>
          </a:p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26.5 + 30.5)/2 = 28.5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B06597-3143-3A2D-254D-C5398A33E176}"/>
              </a:ext>
            </a:extLst>
          </p:cNvPr>
          <p:cNvSpPr/>
          <p:nvPr/>
        </p:nvSpPr>
        <p:spPr>
          <a:xfrm>
            <a:off x="3493787" y="5677003"/>
            <a:ext cx="817072" cy="444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D1D09-CC78-E42E-2684-25BD7A6989B3}"/>
              </a:ext>
            </a:extLst>
          </p:cNvPr>
          <p:cNvSpPr txBox="1"/>
          <p:nvPr/>
        </p:nvSpPr>
        <p:spPr>
          <a:xfrm>
            <a:off x="8705201" y="1343990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16.5</a:t>
            </a:r>
            <a:endParaRPr lang="en-PH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E3A558-62F7-72E0-C9B1-E0D0348579B5}"/>
              </a:ext>
            </a:extLst>
          </p:cNvPr>
          <p:cNvSpPr txBox="1"/>
          <p:nvPr/>
        </p:nvSpPr>
        <p:spPr>
          <a:xfrm>
            <a:off x="8705201" y="2056437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20.5</a:t>
            </a:r>
            <a:endParaRPr lang="en-PH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217C3-FA2F-200D-3047-4D689C816D52}"/>
              </a:ext>
            </a:extLst>
          </p:cNvPr>
          <p:cNvSpPr txBox="1"/>
          <p:nvPr/>
        </p:nvSpPr>
        <p:spPr>
          <a:xfrm>
            <a:off x="8696676" y="2698405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24.5</a:t>
            </a:r>
            <a:endParaRPr lang="en-PH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A8081-BD80-F119-393F-6021AADD6E36}"/>
              </a:ext>
            </a:extLst>
          </p:cNvPr>
          <p:cNvSpPr txBox="1"/>
          <p:nvPr/>
        </p:nvSpPr>
        <p:spPr>
          <a:xfrm>
            <a:off x="8718241" y="3344934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28.5</a:t>
            </a:r>
            <a:endParaRPr lang="en-PH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94BC67-37E0-67EC-9F5F-5E01B4566832}"/>
              </a:ext>
            </a:extLst>
          </p:cNvPr>
          <p:cNvSpPr txBox="1"/>
          <p:nvPr/>
        </p:nvSpPr>
        <p:spPr>
          <a:xfrm>
            <a:off x="5344684" y="4264968"/>
            <a:ext cx="3557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Sample Interpretation:</a:t>
            </a:r>
            <a:endParaRPr lang="en-PH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0E8D1-32AE-B206-2A2A-815B8FF5F0F3}"/>
              </a:ext>
            </a:extLst>
          </p:cNvPr>
          <p:cNvSpPr txBox="1"/>
          <p:nvPr/>
        </p:nvSpPr>
        <p:spPr>
          <a:xfrm>
            <a:off x="5344684" y="4757166"/>
            <a:ext cx="6592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The average age of the students whose ages fall within the 1</a:t>
            </a:r>
            <a:r>
              <a:rPr lang="en-US" sz="2800" b="1" i="1" baseline="30000" dirty="0"/>
              <a:t>st</a:t>
            </a:r>
            <a:r>
              <a:rPr lang="en-US" sz="2800" b="1" i="1" dirty="0"/>
              <a:t> class interval is 16.5.</a:t>
            </a:r>
            <a:endParaRPr lang="en-PH" b="1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D42C6-52AF-2C95-C5FA-20FE9ED9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59B7C-9645-4370-ADFF-A6B5630C41E4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448EB-56A7-062F-D3D6-72D1C82A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2107C6-B12C-A1BB-31AB-D572C7A8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10</a:t>
            </a:fld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67A0D4-BD95-9A61-7768-DF48A1181E48}"/>
              </a:ext>
            </a:extLst>
          </p:cNvPr>
          <p:cNvSpPr txBox="1"/>
          <p:nvPr/>
        </p:nvSpPr>
        <p:spPr>
          <a:xfrm>
            <a:off x="5352228" y="5755426"/>
            <a:ext cx="638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Take a photo of this. </a:t>
            </a:r>
            <a:endParaRPr lang="en-PH" sz="16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9" grpId="0"/>
      <p:bldP spid="3" grpId="0" animBg="1"/>
      <p:bldP spid="7" grpId="0"/>
      <p:bldP spid="10" grpId="0"/>
      <p:bldP spid="14" grpId="0" animBg="1"/>
      <p:bldP spid="15" grpId="0"/>
      <p:bldP spid="16" grpId="0"/>
      <p:bldP spid="17" grpId="0"/>
      <p:bldP spid="18" grpId="0"/>
      <p:bldP spid="20" grpId="0"/>
      <p:bldP spid="22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63" y="300227"/>
            <a:ext cx="10089573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/>
              <a:t>Steps in Constructing a </a:t>
            </a:r>
            <a:br>
              <a:rPr lang="en-US" sz="5400" b="1" dirty="0"/>
            </a:br>
            <a:r>
              <a:rPr lang="en-US" sz="5400" b="1" dirty="0"/>
              <a:t>Frequency Distribution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09778-8216-33C5-B4BB-64F2A730A144}"/>
              </a:ext>
            </a:extLst>
          </p:cNvPr>
          <p:cNvSpPr txBox="1"/>
          <p:nvPr/>
        </p:nvSpPr>
        <p:spPr>
          <a:xfrm>
            <a:off x="602673" y="2306593"/>
            <a:ext cx="1118061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>
                <a:latin typeface="Arial" panose="020B0604020202020204" pitchFamily="34" charset="0"/>
                <a:ea typeface="Times New Roman" panose="02020603050405020304" pitchFamily="18" charset="0"/>
              </a:rPr>
              <a:t>Example 1:</a:t>
            </a:r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r>
              <a:rPr lang="en-US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A class of 44 students were given a test made up of 100 questions which resulted to the scores shown in the table in the next slide.</a:t>
            </a:r>
          </a:p>
          <a:p>
            <a:r>
              <a:rPr lang="en-US" sz="8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r>
              <a:rPr lang="en-US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Construct a frequency distribution table of scores.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1B04B-63FC-E1FA-6D68-E6B64416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E3F9-79FC-4BD4-85F0-B4815C5E69EB}" type="datetime1">
              <a:rPr lang="en-PH" smtClean="0"/>
              <a:t>12/03/2025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3A338-B562-CD1B-547A-36AADE95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BB666-2E7D-237E-A3E9-0A4499EC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18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A6844-6EAB-FDA5-C27B-9DC7A724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3100"/>
            <a:ext cx="12192000" cy="69199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dirty="0"/>
              <a:t>Given Data</a:t>
            </a:r>
            <a:endParaRPr lang="en-US" b="1" kern="1200" dirty="0">
              <a:solidFill>
                <a:schemeClr val="tx1"/>
              </a:solidFill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670767" y="2491018"/>
            <a:ext cx="1118061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66 	   80     57     94     76     48     48     61     69    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86     65     64     60     63     68     41     46     76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84     68     67     68     27     	59     78     59     72     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90     67     68     54     62     64     72     61     67</a:t>
            </a:r>
          </a:p>
          <a:p>
            <a:r>
              <a:rPr lang="en-PH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39     57     57     75     69     61     44     65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4F8D0-0EE8-1B2B-A067-5E2861B4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93B44-90A4-4420-B0EF-D31458385639}" type="datetime1">
              <a:rPr lang="en-PH" smtClean="0"/>
              <a:t>12/03/2025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5412E-B701-CB4A-38E3-9D583500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5C44-2D33-632C-C1F3-36391A0B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396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1317679" y="349792"/>
            <a:ext cx="961663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1: 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Use Sturges’ formula to compute for the ideal </a:t>
            </a:r>
            <a:r>
              <a:rPr lang="en-US" sz="4000" u="sng" dirty="0">
                <a:latin typeface="Arial" panose="020B0604020202020204" pitchFamily="34" charset="0"/>
                <a:ea typeface="Times New Roman" panose="02020603050405020304" pitchFamily="18" charset="0"/>
              </a:rPr>
              <a:t>number of class intervals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000" b="1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36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(round </a:t>
            </a:r>
            <a:r>
              <a:rPr lang="en-US" sz="3600" b="1" i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n-US" sz="36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the usual way)</a:t>
            </a:r>
            <a:endParaRPr lang="en-PH" sz="4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CEE155-7F65-7C4C-3CB7-500F488D8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86" y="2727067"/>
            <a:ext cx="2790716" cy="140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C7071F5-6C0E-FD11-DA7E-B1603D926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618203"/>
              </p:ext>
            </p:extLst>
          </p:nvPr>
        </p:nvGraphicFramePr>
        <p:xfrm>
          <a:off x="4431658" y="2879811"/>
          <a:ext cx="3154362" cy="239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876240" progId="Equation.DSMT4">
                  <p:embed/>
                </p:oleObj>
              </mc:Choice>
              <mc:Fallback>
                <p:oleObj name="Equation" r:id="rId3" imgW="11556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1658" y="2879811"/>
                        <a:ext cx="3154362" cy="2395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ED2878-1B54-166E-3AFC-7046D7EE5575}"/>
              </a:ext>
            </a:extLst>
          </p:cNvPr>
          <p:cNvSpPr txBox="1"/>
          <p:nvPr/>
        </p:nvSpPr>
        <p:spPr>
          <a:xfrm>
            <a:off x="4581439" y="5397002"/>
            <a:ext cx="6915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ideal number of class intervals is 6.</a:t>
            </a:r>
            <a:endParaRPr lang="en-PH" sz="20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A7BF-D791-4FCA-ACB7-9570F86FA944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13</a:t>
            </a:fld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79797-8ED4-1E96-FADE-A2C98246341C}"/>
              </a:ext>
            </a:extLst>
          </p:cNvPr>
          <p:cNvSpPr/>
          <p:nvPr/>
        </p:nvSpPr>
        <p:spPr>
          <a:xfrm>
            <a:off x="4963360" y="4682535"/>
            <a:ext cx="503585" cy="577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814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1365897" y="553013"/>
            <a:ext cx="961663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2: 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Determine the RANGE. </a:t>
            </a:r>
          </a:p>
          <a:p>
            <a:pPr algn="ctr"/>
            <a:r>
              <a:rPr lang="en-US" sz="3600" i="1" dirty="0"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3600" b="1" i="1" u="sng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highest</a:t>
            </a:r>
            <a:r>
              <a:rPr lang="en-US" sz="36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600" i="1" dirty="0">
                <a:latin typeface="Arial" panose="020B0604020202020204" pitchFamily="34" charset="0"/>
                <a:ea typeface="Times New Roman" panose="02020603050405020304" pitchFamily="18" charset="0"/>
              </a:rPr>
              <a:t>raw data </a:t>
            </a:r>
            <a:r>
              <a:rPr lang="en-US" sz="36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minus </a:t>
            </a:r>
            <a:r>
              <a:rPr lang="en-US" sz="3600" b="1" i="1" u="sng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lowest</a:t>
            </a:r>
            <a:r>
              <a:rPr lang="en-US" sz="36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600" i="1" dirty="0">
                <a:latin typeface="Arial" panose="020B0604020202020204" pitchFamily="34" charset="0"/>
                <a:ea typeface="Times New Roman" panose="02020603050405020304" pitchFamily="18" charset="0"/>
              </a:rPr>
              <a:t>raw data) </a:t>
            </a:r>
            <a:endParaRPr lang="en-PH" sz="3600" i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440A7-18F6-4604-B419-4836924E1CD8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14</a:t>
            </a:fld>
            <a:endParaRPr lang="en-P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CD802-4291-5C1E-1441-41D2FC65791A}"/>
              </a:ext>
            </a:extLst>
          </p:cNvPr>
          <p:cNvSpPr txBox="1"/>
          <p:nvPr/>
        </p:nvSpPr>
        <p:spPr>
          <a:xfrm>
            <a:off x="1140590" y="3518327"/>
            <a:ext cx="105677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66 	  80     57     94     76     48     48     61     69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86     65     64     60     63     68     41     46     76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84     68     67     68     27     59     78     59     72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90     67     68     54     62     64     72     61     67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39     57     57     75     69     61     44     65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5AA8DE-A54C-E160-7519-0CE100D0C7BD}"/>
              </a:ext>
            </a:extLst>
          </p:cNvPr>
          <p:cNvSpPr/>
          <p:nvPr/>
        </p:nvSpPr>
        <p:spPr>
          <a:xfrm>
            <a:off x="4490419" y="3518327"/>
            <a:ext cx="883225" cy="679788"/>
          </a:xfrm>
          <a:prstGeom prst="ellipse">
            <a:avLst/>
          </a:prstGeom>
          <a:noFill/>
          <a:ln w="3810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F4184A-678A-7CA7-55B8-01FF95334510}"/>
              </a:ext>
            </a:extLst>
          </p:cNvPr>
          <p:cNvSpPr/>
          <p:nvPr/>
        </p:nvSpPr>
        <p:spPr>
          <a:xfrm>
            <a:off x="5609102" y="4619322"/>
            <a:ext cx="883225" cy="679788"/>
          </a:xfrm>
          <a:prstGeom prst="ellipse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D2878-1B54-166E-3AFC-7046D7EE5575}"/>
              </a:ext>
            </a:extLst>
          </p:cNvPr>
          <p:cNvSpPr txBox="1"/>
          <p:nvPr/>
        </p:nvSpPr>
        <p:spPr>
          <a:xfrm>
            <a:off x="3491941" y="2176065"/>
            <a:ext cx="5118659" cy="769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Range = </a:t>
            </a:r>
            <a:r>
              <a:rPr lang="en-US" sz="4400" b="1" dirty="0">
                <a:solidFill>
                  <a:srgbClr val="000099"/>
                </a:solidFill>
              </a:rPr>
              <a:t>94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FF0000"/>
                </a:solidFill>
              </a:rPr>
              <a:t>–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008000"/>
                </a:solidFill>
              </a:rPr>
              <a:t>27</a:t>
            </a:r>
            <a:r>
              <a:rPr lang="en-US" sz="4400" b="1" dirty="0"/>
              <a:t> = 67</a:t>
            </a:r>
            <a:endParaRPr lang="en-PH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A4EF4-6811-985D-C991-4026E631CB78}"/>
              </a:ext>
            </a:extLst>
          </p:cNvPr>
          <p:cNvSpPr/>
          <p:nvPr/>
        </p:nvSpPr>
        <p:spPr>
          <a:xfrm>
            <a:off x="7719665" y="2252064"/>
            <a:ext cx="796268" cy="679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405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4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1097543" y="465039"/>
            <a:ext cx="998790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3: 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Divide the </a:t>
            </a:r>
            <a:r>
              <a:rPr lang="en-US" sz="4000" u="sng" dirty="0">
                <a:latin typeface="Arial" panose="020B0604020202020204" pitchFamily="34" charset="0"/>
                <a:ea typeface="Times New Roman" panose="02020603050405020304" pitchFamily="18" charset="0"/>
              </a:rPr>
              <a:t>range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 by the </a:t>
            </a:r>
            <a:r>
              <a:rPr lang="en-US" sz="4000" u="sng" dirty="0">
                <a:latin typeface="Arial" panose="020B0604020202020204" pitchFamily="34" charset="0"/>
                <a:ea typeface="Times New Roman" panose="02020603050405020304" pitchFamily="18" charset="0"/>
              </a:rPr>
              <a:t>number of class intervals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 to obtain the class width </a:t>
            </a:r>
            <a:r>
              <a:rPr lang="en-US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(Since raw data are whole numbers, round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upward to a whole number)</a:t>
            </a:r>
            <a:endParaRPr lang="en-PH" sz="3600" i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DB279-E5FF-4F4A-A99F-7EA4D7A6943A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15</a:t>
            </a:fld>
            <a:endParaRPr lang="en-PH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A614B05-778E-7126-7334-74C8763E7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844725"/>
              </p:ext>
            </p:extLst>
          </p:nvPr>
        </p:nvGraphicFramePr>
        <p:xfrm>
          <a:off x="1271148" y="2785994"/>
          <a:ext cx="23352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93480" progId="Equation.DSMT4">
                  <p:embed/>
                </p:oleObj>
              </mc:Choice>
              <mc:Fallback>
                <p:oleObj name="Equation" r:id="rId2" imgW="761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1148" y="2785994"/>
                        <a:ext cx="2335213" cy="1206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C7832C0-51D7-7E50-EAA2-2AE24E3A4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917070"/>
              </p:ext>
            </p:extLst>
          </p:nvPr>
        </p:nvGraphicFramePr>
        <p:xfrm>
          <a:off x="4605129" y="2770967"/>
          <a:ext cx="2058987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876240" progId="Equation.DSMT4">
                  <p:embed/>
                </p:oleObj>
              </mc:Choice>
              <mc:Fallback>
                <p:oleObj name="Equation" r:id="rId4" imgW="67284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05129" y="2770967"/>
                        <a:ext cx="2058987" cy="267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C6468C-068F-83E7-989B-85EC85AFAABB}"/>
              </a:ext>
            </a:extLst>
          </p:cNvPr>
          <p:cNvSpPr txBox="1"/>
          <p:nvPr/>
        </p:nvSpPr>
        <p:spPr>
          <a:xfrm>
            <a:off x="6406735" y="5514960"/>
            <a:ext cx="411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class width is 12.</a:t>
            </a:r>
            <a:endParaRPr lang="en-PH" sz="20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A4EF4-6811-985D-C991-4026E631CB78}"/>
              </a:ext>
            </a:extLst>
          </p:cNvPr>
          <p:cNvSpPr/>
          <p:nvPr/>
        </p:nvSpPr>
        <p:spPr>
          <a:xfrm>
            <a:off x="5303828" y="4764164"/>
            <a:ext cx="796268" cy="679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189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149087" y="514733"/>
            <a:ext cx="118971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4: </a:t>
            </a:r>
            <a:r>
              <a:rPr lang="en-US" sz="3200" dirty="0">
                <a:latin typeface="Arial" panose="020B0604020202020204" pitchFamily="34" charset="0"/>
                <a:ea typeface="Times New Roman" panose="02020603050405020304" pitchFamily="18" charset="0"/>
              </a:rPr>
              <a:t>List the lower class limit of the lowest class interval </a:t>
            </a:r>
            <a:r>
              <a:rPr lang="en-US" sz="2800" i="1" dirty="0">
                <a:latin typeface="Arial" panose="020B0604020202020204" pitchFamily="34" charset="0"/>
                <a:ea typeface="Times New Roman" panose="02020603050405020304" pitchFamily="18" charset="0"/>
              </a:rPr>
              <a:t>(usually the </a:t>
            </a:r>
            <a:r>
              <a:rPr lang="en-US" sz="2800" i="1" u="sng" dirty="0">
                <a:latin typeface="Arial" panose="020B0604020202020204" pitchFamily="34" charset="0"/>
                <a:ea typeface="Times New Roman" panose="02020603050405020304" pitchFamily="18" charset="0"/>
              </a:rPr>
              <a:t>lowest raw data</a:t>
            </a:r>
            <a:r>
              <a:rPr lang="en-US" sz="2800" i="1" dirty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r>
              <a:rPr lang="en-US" sz="3200" dirty="0">
                <a:latin typeface="Arial" panose="020B0604020202020204" pitchFamily="34" charset="0"/>
                <a:ea typeface="Times New Roman" panose="02020603050405020304" pitchFamily="18" charset="0"/>
              </a:rPr>
              <a:t> and then add the </a:t>
            </a:r>
            <a:r>
              <a:rPr lang="en-US" sz="3200" u="sng" dirty="0">
                <a:latin typeface="Arial" panose="020B0604020202020204" pitchFamily="34" charset="0"/>
                <a:ea typeface="Times New Roman" panose="02020603050405020304" pitchFamily="18" charset="0"/>
              </a:rPr>
              <a:t>class width</a:t>
            </a:r>
            <a:r>
              <a:rPr lang="en-US" sz="3200" dirty="0">
                <a:latin typeface="Arial" panose="020B0604020202020204" pitchFamily="34" charset="0"/>
                <a:ea typeface="Times New Roman" panose="02020603050405020304" pitchFamily="18" charset="0"/>
              </a:rPr>
              <a:t> to it to obtain the succeeding lower class limit and so on.</a:t>
            </a:r>
            <a:endParaRPr lang="en-PH" sz="2800" i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6D60-B293-45D7-ACF1-C8E62E9FF7D3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16</a:t>
            </a:fld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4747F-0FD6-55F1-73E8-07103F2E6EED}"/>
              </a:ext>
            </a:extLst>
          </p:cNvPr>
          <p:cNvSpPr txBox="1"/>
          <p:nvPr/>
        </p:nvSpPr>
        <p:spPr>
          <a:xfrm>
            <a:off x="4425166" y="2492027"/>
            <a:ext cx="11628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27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39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51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63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75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87</a:t>
            </a:r>
            <a:endParaRPr lang="en-PH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9360D-CBDB-04B4-009E-FEBC2642414C}"/>
              </a:ext>
            </a:extLst>
          </p:cNvPr>
          <p:cNvSpPr txBox="1"/>
          <p:nvPr/>
        </p:nvSpPr>
        <p:spPr>
          <a:xfrm>
            <a:off x="5326299" y="2492027"/>
            <a:ext cx="11603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+ 12</a:t>
            </a:r>
            <a:endParaRPr lang="en-PH" sz="3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1D8539-8A40-1996-8CE6-4D30AD74AD0B}"/>
              </a:ext>
            </a:extLst>
          </p:cNvPr>
          <p:cNvSpPr txBox="1"/>
          <p:nvPr/>
        </p:nvSpPr>
        <p:spPr>
          <a:xfrm>
            <a:off x="5316570" y="3086646"/>
            <a:ext cx="12637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+ 12</a:t>
            </a:r>
            <a:endParaRPr lang="en-PH" sz="3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8DCD4-DF3F-06B7-7D5C-8EA0F596CA96}"/>
              </a:ext>
            </a:extLst>
          </p:cNvPr>
          <p:cNvSpPr txBox="1"/>
          <p:nvPr/>
        </p:nvSpPr>
        <p:spPr>
          <a:xfrm>
            <a:off x="5323752" y="3701827"/>
            <a:ext cx="12637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+ 12</a:t>
            </a:r>
            <a:endParaRPr lang="en-PH" sz="3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50516-6C0A-C80F-0836-77BDF4E7C0F9}"/>
              </a:ext>
            </a:extLst>
          </p:cNvPr>
          <p:cNvSpPr txBox="1"/>
          <p:nvPr/>
        </p:nvSpPr>
        <p:spPr>
          <a:xfrm>
            <a:off x="5330934" y="4332015"/>
            <a:ext cx="12637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+ 12</a:t>
            </a:r>
            <a:endParaRPr lang="en-PH" sz="3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9545E-DB30-591F-64E3-06B7F4F45AB4}"/>
              </a:ext>
            </a:extLst>
          </p:cNvPr>
          <p:cNvSpPr txBox="1"/>
          <p:nvPr/>
        </p:nvSpPr>
        <p:spPr>
          <a:xfrm>
            <a:off x="5340207" y="4926994"/>
            <a:ext cx="12637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+ 12</a:t>
            </a:r>
            <a:endParaRPr lang="en-PH" sz="38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163F88-B975-B11E-B529-AE8A611942F4}"/>
              </a:ext>
            </a:extLst>
          </p:cNvPr>
          <p:cNvSpPr/>
          <p:nvPr/>
        </p:nvSpPr>
        <p:spPr>
          <a:xfrm>
            <a:off x="4518323" y="2508165"/>
            <a:ext cx="805099" cy="3753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035C6-F799-DC7C-44E0-716266F90309}"/>
              </a:ext>
            </a:extLst>
          </p:cNvPr>
          <p:cNvSpPr txBox="1"/>
          <p:nvPr/>
        </p:nvSpPr>
        <p:spPr>
          <a:xfrm>
            <a:off x="993466" y="5603685"/>
            <a:ext cx="316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Lower Class Limits</a:t>
            </a:r>
            <a:endParaRPr lang="en-PH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1B44FE-1703-991C-A1BC-CC9B21E21DC0}"/>
              </a:ext>
            </a:extLst>
          </p:cNvPr>
          <p:cNvCxnSpPr>
            <a:cxnSpLocks/>
          </p:cNvCxnSpPr>
          <p:nvPr/>
        </p:nvCxnSpPr>
        <p:spPr>
          <a:xfrm>
            <a:off x="3826370" y="5904207"/>
            <a:ext cx="622560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9253EB6-A7B1-4B23-91B6-B762104E1292}"/>
              </a:ext>
            </a:extLst>
          </p:cNvPr>
          <p:cNvSpPr/>
          <p:nvPr/>
        </p:nvSpPr>
        <p:spPr>
          <a:xfrm>
            <a:off x="4522320" y="2518556"/>
            <a:ext cx="792000" cy="684000"/>
          </a:xfrm>
          <a:prstGeom prst="ellipse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7C465-C534-FC1B-5529-5688F410E6D5}"/>
              </a:ext>
            </a:extLst>
          </p:cNvPr>
          <p:cNvSpPr txBox="1"/>
          <p:nvPr/>
        </p:nvSpPr>
        <p:spPr>
          <a:xfrm>
            <a:off x="1330036" y="2546080"/>
            <a:ext cx="2991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Lowest Raw Data</a:t>
            </a:r>
            <a:endParaRPr lang="en-PH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D51F9D-8B49-8DAE-9514-2F3EB0499727}"/>
              </a:ext>
            </a:extLst>
          </p:cNvPr>
          <p:cNvCxnSpPr>
            <a:cxnSpLocks/>
          </p:cNvCxnSpPr>
          <p:nvPr/>
        </p:nvCxnSpPr>
        <p:spPr>
          <a:xfrm>
            <a:off x="3989090" y="2846602"/>
            <a:ext cx="622560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5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2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2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 animBg="1"/>
      <p:bldP spid="21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149087" y="514733"/>
            <a:ext cx="1189713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5: </a:t>
            </a:r>
            <a:r>
              <a:rPr lang="en-US" sz="3600" dirty="0">
                <a:latin typeface="Arial" panose="020B0604020202020204" pitchFamily="34" charset="0"/>
                <a:ea typeface="Times New Roman" panose="02020603050405020304" pitchFamily="18" charset="0"/>
              </a:rPr>
              <a:t>List the </a:t>
            </a:r>
            <a:r>
              <a:rPr lang="en-US" sz="3600" u="sng" dirty="0">
                <a:latin typeface="Arial" panose="020B0604020202020204" pitchFamily="34" charset="0"/>
                <a:ea typeface="Times New Roman" panose="02020603050405020304" pitchFamily="18" charset="0"/>
              </a:rPr>
              <a:t>upper class limit</a:t>
            </a:r>
            <a:r>
              <a:rPr lang="en-US" sz="3600" dirty="0">
                <a:latin typeface="Arial" panose="020B0604020202020204" pitchFamily="34" charset="0"/>
                <a:ea typeface="Times New Roman" panose="02020603050405020304" pitchFamily="18" charset="0"/>
              </a:rPr>
              <a:t> of each class interval. </a:t>
            </a:r>
          </a:p>
          <a:p>
            <a:pPr algn="ctr"/>
            <a:r>
              <a:rPr lang="en-US" sz="2800" i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Note: The highest raw data need not be equal to the highest upper limit but it must be within the highest class interval.</a:t>
            </a:r>
            <a:endParaRPr lang="en-PH" sz="2400" i="1" dirty="0">
              <a:solidFill>
                <a:srgbClr val="000099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ECE9-7C6A-4116-8B59-5BBC7E5F6528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17</a:t>
            </a:fld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4747F-0FD6-55F1-73E8-07103F2E6EED}"/>
              </a:ext>
            </a:extLst>
          </p:cNvPr>
          <p:cNvSpPr txBox="1"/>
          <p:nvPr/>
        </p:nvSpPr>
        <p:spPr>
          <a:xfrm>
            <a:off x="4412412" y="2506594"/>
            <a:ext cx="11628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27-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39-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51-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63-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75-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87-</a:t>
            </a:r>
            <a:endParaRPr lang="en-PH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035C6-F799-DC7C-44E0-716266F90309}"/>
              </a:ext>
            </a:extLst>
          </p:cNvPr>
          <p:cNvSpPr txBox="1"/>
          <p:nvPr/>
        </p:nvSpPr>
        <p:spPr>
          <a:xfrm>
            <a:off x="6700594" y="5605856"/>
            <a:ext cx="316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Upper Class Limits</a:t>
            </a:r>
            <a:endParaRPr lang="en-PH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1B44FE-1703-991C-A1BC-CC9B21E21DC0}"/>
              </a:ext>
            </a:extLst>
          </p:cNvPr>
          <p:cNvCxnSpPr>
            <a:cxnSpLocks/>
          </p:cNvCxnSpPr>
          <p:nvPr/>
        </p:nvCxnSpPr>
        <p:spPr>
          <a:xfrm>
            <a:off x="6195497" y="5867466"/>
            <a:ext cx="622560" cy="0"/>
          </a:xfrm>
          <a:prstGeom prst="straightConnector1">
            <a:avLst/>
          </a:prstGeom>
          <a:ln w="28575">
            <a:solidFill>
              <a:srgbClr val="0000FF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813EAE-0FF5-A396-9AF1-4732C8787BA2}"/>
              </a:ext>
            </a:extLst>
          </p:cNvPr>
          <p:cNvSpPr txBox="1"/>
          <p:nvPr/>
        </p:nvSpPr>
        <p:spPr>
          <a:xfrm>
            <a:off x="5176025" y="2513700"/>
            <a:ext cx="11628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38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50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62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74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86</a:t>
            </a:r>
            <a:endParaRPr lang="en-PH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/>
            <a:r>
              <a:rPr lang="en-PH" sz="4000" b="1" i="1" dirty="0">
                <a:latin typeface="Arial" panose="020B0604020202020204" pitchFamily="34" charset="0"/>
                <a:ea typeface="Times New Roman" panose="02020603050405020304" pitchFamily="18" charset="0"/>
              </a:rPr>
              <a:t>98</a:t>
            </a:r>
            <a:endParaRPr lang="en-PH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03916E-68FF-6C1D-2659-3838ED7953FD}"/>
              </a:ext>
            </a:extLst>
          </p:cNvPr>
          <p:cNvSpPr/>
          <p:nvPr/>
        </p:nvSpPr>
        <p:spPr>
          <a:xfrm>
            <a:off x="2223527" y="3567544"/>
            <a:ext cx="684000" cy="576000"/>
          </a:xfrm>
          <a:prstGeom prst="ellipse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86FFC-E52D-8E05-2115-0FB26A762A05}"/>
              </a:ext>
            </a:extLst>
          </p:cNvPr>
          <p:cNvSpPr txBox="1"/>
          <p:nvPr/>
        </p:nvSpPr>
        <p:spPr>
          <a:xfrm>
            <a:off x="995515" y="3048847"/>
            <a:ext cx="316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Highest Raw Data</a:t>
            </a:r>
            <a:endParaRPr lang="en-PH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7FB586-8E7D-BC7A-9411-F683AAAE4ECC}"/>
              </a:ext>
            </a:extLst>
          </p:cNvPr>
          <p:cNvCxnSpPr>
            <a:cxnSpLocks/>
          </p:cNvCxnSpPr>
          <p:nvPr/>
        </p:nvCxnSpPr>
        <p:spPr>
          <a:xfrm>
            <a:off x="2849518" y="4060950"/>
            <a:ext cx="2326507" cy="1631638"/>
          </a:xfrm>
          <a:prstGeom prst="straightConnector1">
            <a:avLst/>
          </a:prstGeom>
          <a:ln w="28575">
            <a:solidFill>
              <a:srgbClr val="0000FF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957ACD-C881-4E24-4391-15C6D156D129}"/>
              </a:ext>
            </a:extLst>
          </p:cNvPr>
          <p:cNvSpPr txBox="1"/>
          <p:nvPr/>
        </p:nvSpPr>
        <p:spPr>
          <a:xfrm>
            <a:off x="995514" y="3577110"/>
            <a:ext cx="316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94</a:t>
            </a:r>
            <a:endParaRPr lang="en-PH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163F88-B975-B11E-B529-AE8A611942F4}"/>
              </a:ext>
            </a:extLst>
          </p:cNvPr>
          <p:cNvSpPr/>
          <p:nvPr/>
        </p:nvSpPr>
        <p:spPr>
          <a:xfrm>
            <a:off x="5310051" y="2497169"/>
            <a:ext cx="805099" cy="3753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513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6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8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 animBg="1"/>
      <p:bldP spid="9" grpId="0"/>
      <p:bldP spid="12" grpId="0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E997D-CB5B-9D9D-3A03-712A2ED6360F}"/>
              </a:ext>
            </a:extLst>
          </p:cNvPr>
          <p:cNvSpPr txBox="1"/>
          <p:nvPr/>
        </p:nvSpPr>
        <p:spPr>
          <a:xfrm>
            <a:off x="214008" y="273780"/>
            <a:ext cx="11569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STEP 6: </a:t>
            </a:r>
            <a:r>
              <a:rPr lang="en-US" sz="3600" dirty="0">
                <a:latin typeface="Arial" panose="020B0604020202020204" pitchFamily="34" charset="0"/>
                <a:ea typeface="Times New Roman" panose="02020603050405020304" pitchFamily="18" charset="0"/>
              </a:rPr>
              <a:t>Tally the frequencies for each class interval and sum them up.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6CCD0-82F5-4B71-9238-5063C519CF59}" type="datetime1">
              <a:rPr lang="en-PH" smtClean="0"/>
              <a:t>12/03/2025</a:t>
            </a:fld>
            <a:endParaRPr lang="en-P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3F7B6E-4BDB-1BCB-AB38-2320FACB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18</a:t>
            </a:fld>
            <a:endParaRPr lang="en-P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CEBA0-A659-56B3-109F-48F848A03524}"/>
              </a:ext>
            </a:extLst>
          </p:cNvPr>
          <p:cNvSpPr txBox="1"/>
          <p:nvPr/>
        </p:nvSpPr>
        <p:spPr>
          <a:xfrm>
            <a:off x="768005" y="1403436"/>
            <a:ext cx="5744225" cy="50783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66 	  80     57     94     76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48     48     61     69     86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65     64     60     63     68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41     46     76     84     68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67     68     27     59     78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59     72     90     67     68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54     62     64     72     61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67     39     57     57     75     </a:t>
            </a:r>
          </a:p>
          <a:p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69     61     44     65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3F0A918D-C7F9-AE1E-7AD7-38C8F19EF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96993"/>
              </p:ext>
            </p:extLst>
          </p:nvPr>
        </p:nvGraphicFramePr>
        <p:xfrm>
          <a:off x="6535553" y="1522196"/>
          <a:ext cx="423296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588">
                  <a:extLst>
                    <a:ext uri="{9D8B030D-6E8A-4147-A177-3AD203B41FA5}">
                      <a16:colId xmlns:a16="http://schemas.microsoft.com/office/drawing/2014/main" val="3973368244"/>
                    </a:ext>
                  </a:extLst>
                </a:gridCol>
                <a:gridCol w="1426377">
                  <a:extLst>
                    <a:ext uri="{9D8B030D-6E8A-4147-A177-3AD203B41FA5}">
                      <a16:colId xmlns:a16="http://schemas.microsoft.com/office/drawing/2014/main" val="363994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Class Interval</a:t>
                      </a:r>
                      <a:endParaRPr lang="en-PH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/>
                        <a:t>f</a:t>
                      </a:r>
                      <a:endParaRPr lang="en-PH" sz="3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61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27-38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31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39-50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82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51-62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4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63-74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49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75-86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20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87-98</a:t>
                      </a:r>
                      <a:endParaRPr lang="en-PH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486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E6222E6-1C47-51F7-8054-4FD4C449F719}"/>
              </a:ext>
            </a:extLst>
          </p:cNvPr>
          <p:cNvSpPr txBox="1"/>
          <p:nvPr/>
        </p:nvSpPr>
        <p:spPr>
          <a:xfrm>
            <a:off x="9473155" y="2154481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1</a:t>
            </a:r>
            <a:endParaRPr lang="en-PH" sz="28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84AB43-20A9-E55D-539D-5C819E4E5DD2}"/>
              </a:ext>
            </a:extLst>
          </p:cNvPr>
          <p:cNvSpPr txBox="1"/>
          <p:nvPr/>
        </p:nvSpPr>
        <p:spPr>
          <a:xfrm>
            <a:off x="9459824" y="2867503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6</a:t>
            </a:r>
            <a:endParaRPr lang="en-PH" sz="28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775996-84DC-DCA7-2689-0C5072CE4716}"/>
              </a:ext>
            </a:extLst>
          </p:cNvPr>
          <p:cNvSpPr txBox="1"/>
          <p:nvPr/>
        </p:nvSpPr>
        <p:spPr>
          <a:xfrm>
            <a:off x="9485067" y="3580208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11</a:t>
            </a:r>
            <a:endParaRPr lang="en-PH" sz="2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CA8F57-B635-D6EB-53E6-25C840AEA2B6}"/>
              </a:ext>
            </a:extLst>
          </p:cNvPr>
          <p:cNvSpPr txBox="1"/>
          <p:nvPr/>
        </p:nvSpPr>
        <p:spPr>
          <a:xfrm>
            <a:off x="9489453" y="4277822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17</a:t>
            </a:r>
            <a:endParaRPr lang="en-PH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729FE6-AFB1-5402-F9FA-09E733E59BF5}"/>
              </a:ext>
            </a:extLst>
          </p:cNvPr>
          <p:cNvSpPr txBox="1"/>
          <p:nvPr/>
        </p:nvSpPr>
        <p:spPr>
          <a:xfrm>
            <a:off x="9468671" y="4972650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7</a:t>
            </a:r>
            <a:endParaRPr lang="en-PH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0AF787-3961-DE2B-3A65-EAADBF51C15D}"/>
              </a:ext>
            </a:extLst>
          </p:cNvPr>
          <p:cNvSpPr txBox="1"/>
          <p:nvPr/>
        </p:nvSpPr>
        <p:spPr>
          <a:xfrm>
            <a:off x="9462874" y="5672957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2</a:t>
            </a:r>
            <a:endParaRPr lang="en-PH" sz="2800" b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780604-A27E-3897-9BDA-C35C71641790}"/>
              </a:ext>
            </a:extLst>
          </p:cNvPr>
          <p:cNvCxnSpPr/>
          <p:nvPr/>
        </p:nvCxnSpPr>
        <p:spPr>
          <a:xfrm flipV="1">
            <a:off x="3085658" y="375288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B6C26C-6E0B-7297-5443-3BEBFBE3A663}"/>
              </a:ext>
            </a:extLst>
          </p:cNvPr>
          <p:cNvCxnSpPr/>
          <p:nvPr/>
        </p:nvCxnSpPr>
        <p:spPr>
          <a:xfrm flipV="1">
            <a:off x="838200" y="209944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8BA0E7-C033-D269-8373-FC1D4FDB1EA2}"/>
              </a:ext>
            </a:extLst>
          </p:cNvPr>
          <p:cNvCxnSpPr/>
          <p:nvPr/>
        </p:nvCxnSpPr>
        <p:spPr>
          <a:xfrm flipV="1">
            <a:off x="1920048" y="214133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DD7845-424E-A566-ADD6-FF90C7B79535}"/>
              </a:ext>
            </a:extLst>
          </p:cNvPr>
          <p:cNvCxnSpPr/>
          <p:nvPr/>
        </p:nvCxnSpPr>
        <p:spPr>
          <a:xfrm flipV="1">
            <a:off x="776695" y="3221446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184F3-3410-51D4-0E90-CABFE8B6F736}"/>
              </a:ext>
            </a:extLst>
          </p:cNvPr>
          <p:cNvCxnSpPr/>
          <p:nvPr/>
        </p:nvCxnSpPr>
        <p:spPr>
          <a:xfrm flipV="1">
            <a:off x="1960603" y="3221445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E1F838-001D-A70A-1FED-FF95244F4AA9}"/>
              </a:ext>
            </a:extLst>
          </p:cNvPr>
          <p:cNvCxnSpPr/>
          <p:nvPr/>
        </p:nvCxnSpPr>
        <p:spPr>
          <a:xfrm flipV="1">
            <a:off x="1960603" y="5381668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4BF28C-40BB-1884-47D7-70FF9FAD4389}"/>
              </a:ext>
            </a:extLst>
          </p:cNvPr>
          <p:cNvCxnSpPr/>
          <p:nvPr/>
        </p:nvCxnSpPr>
        <p:spPr>
          <a:xfrm flipV="1">
            <a:off x="3085658" y="5941526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F486FA-BD85-D15F-84D0-A85B5ECD9EA0}"/>
              </a:ext>
            </a:extLst>
          </p:cNvPr>
          <p:cNvCxnSpPr/>
          <p:nvPr/>
        </p:nvCxnSpPr>
        <p:spPr>
          <a:xfrm flipV="1">
            <a:off x="3176408" y="155852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413890-4C9C-50AC-86DF-5B7E12B8B25C}"/>
              </a:ext>
            </a:extLst>
          </p:cNvPr>
          <p:cNvCxnSpPr/>
          <p:nvPr/>
        </p:nvCxnSpPr>
        <p:spPr>
          <a:xfrm flipV="1">
            <a:off x="3075494" y="211832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F0B571-B39F-493C-FBEB-1054991BE406}"/>
              </a:ext>
            </a:extLst>
          </p:cNvPr>
          <p:cNvCxnSpPr/>
          <p:nvPr/>
        </p:nvCxnSpPr>
        <p:spPr>
          <a:xfrm flipV="1">
            <a:off x="3085658" y="267448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9E1A8A1-FEDF-AAC6-F896-47BC9F9DCF99}"/>
              </a:ext>
            </a:extLst>
          </p:cNvPr>
          <p:cNvCxnSpPr/>
          <p:nvPr/>
        </p:nvCxnSpPr>
        <p:spPr>
          <a:xfrm flipV="1">
            <a:off x="4236636" y="376749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12A655-EECD-35D6-2531-C5EC2EDBA1D2}"/>
              </a:ext>
            </a:extLst>
          </p:cNvPr>
          <p:cNvCxnSpPr/>
          <p:nvPr/>
        </p:nvCxnSpPr>
        <p:spPr>
          <a:xfrm flipV="1">
            <a:off x="776695" y="432705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4D85DD-DD20-3CDE-DBE6-8A184D66E508}"/>
              </a:ext>
            </a:extLst>
          </p:cNvPr>
          <p:cNvCxnSpPr/>
          <p:nvPr/>
        </p:nvCxnSpPr>
        <p:spPr>
          <a:xfrm flipV="1">
            <a:off x="776695" y="487952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0F7A8D0-0A27-D400-7038-14ACBB578501}"/>
              </a:ext>
            </a:extLst>
          </p:cNvPr>
          <p:cNvCxnSpPr/>
          <p:nvPr/>
        </p:nvCxnSpPr>
        <p:spPr>
          <a:xfrm flipV="1">
            <a:off x="1946936" y="486608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2E3D80-80C4-C218-6D94-0A2C7BE2B331}"/>
              </a:ext>
            </a:extLst>
          </p:cNvPr>
          <p:cNvCxnSpPr/>
          <p:nvPr/>
        </p:nvCxnSpPr>
        <p:spPr>
          <a:xfrm flipV="1">
            <a:off x="5400541" y="4836902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CCF1F7-E030-51C7-3D69-21405A61A3FF}"/>
              </a:ext>
            </a:extLst>
          </p:cNvPr>
          <p:cNvCxnSpPr/>
          <p:nvPr/>
        </p:nvCxnSpPr>
        <p:spPr>
          <a:xfrm flipV="1">
            <a:off x="3091641" y="541641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2C17D4A-2231-1727-8F8B-1C7366D20079}"/>
              </a:ext>
            </a:extLst>
          </p:cNvPr>
          <p:cNvCxnSpPr/>
          <p:nvPr/>
        </p:nvCxnSpPr>
        <p:spPr>
          <a:xfrm flipV="1">
            <a:off x="4231270" y="538705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E44E09-6A95-99F1-70E6-A6DA110FAC15}"/>
              </a:ext>
            </a:extLst>
          </p:cNvPr>
          <p:cNvCxnSpPr/>
          <p:nvPr/>
        </p:nvCxnSpPr>
        <p:spPr>
          <a:xfrm flipV="1">
            <a:off x="1946168" y="592206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9DFE44-FAC5-9F79-BA7D-DE1850CE4AED}"/>
              </a:ext>
            </a:extLst>
          </p:cNvPr>
          <p:cNvCxnSpPr/>
          <p:nvPr/>
        </p:nvCxnSpPr>
        <p:spPr>
          <a:xfrm flipV="1">
            <a:off x="833166" y="159611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D1F75B8-38ED-71C8-65C0-D161D2A0002F}"/>
              </a:ext>
            </a:extLst>
          </p:cNvPr>
          <p:cNvCxnSpPr/>
          <p:nvPr/>
        </p:nvCxnSpPr>
        <p:spPr>
          <a:xfrm flipV="1">
            <a:off x="3046117" y="434854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64D16AA-0327-4017-C495-55E723017589}"/>
              </a:ext>
            </a:extLst>
          </p:cNvPr>
          <p:cNvCxnSpPr/>
          <p:nvPr/>
        </p:nvCxnSpPr>
        <p:spPr>
          <a:xfrm flipV="1">
            <a:off x="1946168" y="158500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D4005A-D961-C352-CFAF-953F3BBBAFA4}"/>
              </a:ext>
            </a:extLst>
          </p:cNvPr>
          <p:cNvCxnSpPr/>
          <p:nvPr/>
        </p:nvCxnSpPr>
        <p:spPr>
          <a:xfrm flipV="1">
            <a:off x="5399228" y="1581410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811C72-05B1-CD88-3556-B895E7864A77}"/>
              </a:ext>
            </a:extLst>
          </p:cNvPr>
          <p:cNvCxnSpPr/>
          <p:nvPr/>
        </p:nvCxnSpPr>
        <p:spPr>
          <a:xfrm flipV="1">
            <a:off x="5361008" y="2120848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3E4F78A-A0BE-BAA1-A4BD-164D3F4F2C16}"/>
              </a:ext>
            </a:extLst>
          </p:cNvPr>
          <p:cNvCxnSpPr/>
          <p:nvPr/>
        </p:nvCxnSpPr>
        <p:spPr>
          <a:xfrm flipV="1">
            <a:off x="3119553" y="3196724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56CA11D-0BDA-35A7-38F0-3639B3E79635}"/>
              </a:ext>
            </a:extLst>
          </p:cNvPr>
          <p:cNvCxnSpPr/>
          <p:nvPr/>
        </p:nvCxnSpPr>
        <p:spPr>
          <a:xfrm flipV="1">
            <a:off x="4230259" y="3196723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7B386FD-4A6E-E9C3-6B0E-CCB2F604EF9B}"/>
              </a:ext>
            </a:extLst>
          </p:cNvPr>
          <p:cNvCxnSpPr/>
          <p:nvPr/>
        </p:nvCxnSpPr>
        <p:spPr>
          <a:xfrm flipV="1">
            <a:off x="5398041" y="3767493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713665-95A1-B258-488F-68ED11FCE456}"/>
              </a:ext>
            </a:extLst>
          </p:cNvPr>
          <p:cNvCxnSpPr/>
          <p:nvPr/>
        </p:nvCxnSpPr>
        <p:spPr>
          <a:xfrm flipV="1">
            <a:off x="5434499" y="538489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ight Brace 55">
            <a:extLst>
              <a:ext uri="{FF2B5EF4-FFF2-40B4-BE49-F238E27FC236}">
                <a16:creationId xmlns:a16="http://schemas.microsoft.com/office/drawing/2014/main" id="{3C9C0264-FB42-749A-A9D7-91C284AA8B16}"/>
              </a:ext>
            </a:extLst>
          </p:cNvPr>
          <p:cNvSpPr/>
          <p:nvPr/>
        </p:nvSpPr>
        <p:spPr>
          <a:xfrm>
            <a:off x="10228235" y="2418521"/>
            <a:ext cx="719573" cy="3737010"/>
          </a:xfrm>
          <a:prstGeom prst="rightBrace">
            <a:avLst>
              <a:gd name="adj1" fmla="val 8333"/>
              <a:gd name="adj2" fmla="val 49441"/>
            </a:avLst>
          </a:prstGeom>
          <a:ln w="254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344B37-26CD-7857-7A10-5BC843D6A6A2}"/>
              </a:ext>
            </a:extLst>
          </p:cNvPr>
          <p:cNvSpPr txBox="1"/>
          <p:nvPr/>
        </p:nvSpPr>
        <p:spPr>
          <a:xfrm>
            <a:off x="10754725" y="3891817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44</a:t>
            </a:r>
            <a:endParaRPr lang="en-PH" sz="28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E875D6-36C6-39D9-8F4F-89BAC9342A9F}"/>
              </a:ext>
            </a:extLst>
          </p:cNvPr>
          <p:cNvCxnSpPr/>
          <p:nvPr/>
        </p:nvCxnSpPr>
        <p:spPr>
          <a:xfrm flipV="1">
            <a:off x="4215123" y="2118320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F5D025-E70D-F116-75FA-8B36769F74F8}"/>
              </a:ext>
            </a:extLst>
          </p:cNvPr>
          <p:cNvCxnSpPr/>
          <p:nvPr/>
        </p:nvCxnSpPr>
        <p:spPr>
          <a:xfrm flipV="1">
            <a:off x="833166" y="267009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49C41E-2B75-72A6-25A3-6E4BA67B2ECB}"/>
              </a:ext>
            </a:extLst>
          </p:cNvPr>
          <p:cNvCxnSpPr/>
          <p:nvPr/>
        </p:nvCxnSpPr>
        <p:spPr>
          <a:xfrm flipV="1">
            <a:off x="1953316" y="2672256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9235D4-C59D-5D21-7C1F-77921B536C8C}"/>
              </a:ext>
            </a:extLst>
          </p:cNvPr>
          <p:cNvCxnSpPr/>
          <p:nvPr/>
        </p:nvCxnSpPr>
        <p:spPr>
          <a:xfrm flipV="1">
            <a:off x="4262142" y="2678427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2CE12E-267C-53D8-DCBE-D6A766974519}"/>
              </a:ext>
            </a:extLst>
          </p:cNvPr>
          <p:cNvCxnSpPr/>
          <p:nvPr/>
        </p:nvCxnSpPr>
        <p:spPr>
          <a:xfrm flipV="1">
            <a:off x="5403970" y="268726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CA541F-AA6E-2063-1A39-5A321E78E564}"/>
              </a:ext>
            </a:extLst>
          </p:cNvPr>
          <p:cNvCxnSpPr/>
          <p:nvPr/>
        </p:nvCxnSpPr>
        <p:spPr>
          <a:xfrm flipV="1">
            <a:off x="5369888" y="325453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C82AEA-000D-E617-C09D-CA8DA046E804}"/>
              </a:ext>
            </a:extLst>
          </p:cNvPr>
          <p:cNvCxnSpPr/>
          <p:nvPr/>
        </p:nvCxnSpPr>
        <p:spPr>
          <a:xfrm flipV="1">
            <a:off x="780967" y="3784195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A749A4-967B-B944-16B5-D480E41DB1A8}"/>
              </a:ext>
            </a:extLst>
          </p:cNvPr>
          <p:cNvCxnSpPr/>
          <p:nvPr/>
        </p:nvCxnSpPr>
        <p:spPr>
          <a:xfrm flipV="1">
            <a:off x="1953316" y="3808678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CF5036-C51C-472F-3224-167717756F4F}"/>
              </a:ext>
            </a:extLst>
          </p:cNvPr>
          <p:cNvCxnSpPr/>
          <p:nvPr/>
        </p:nvCxnSpPr>
        <p:spPr>
          <a:xfrm flipV="1">
            <a:off x="1960603" y="434807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1C7F22-53DD-2D0B-17C6-855F32A3E54D}"/>
              </a:ext>
            </a:extLst>
          </p:cNvPr>
          <p:cNvCxnSpPr/>
          <p:nvPr/>
        </p:nvCxnSpPr>
        <p:spPr>
          <a:xfrm flipV="1">
            <a:off x="4230259" y="430588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C56387-0F1D-20F4-85E6-4D4BB6452254}"/>
              </a:ext>
            </a:extLst>
          </p:cNvPr>
          <p:cNvCxnSpPr/>
          <p:nvPr/>
        </p:nvCxnSpPr>
        <p:spPr>
          <a:xfrm flipV="1">
            <a:off x="5386571" y="4348079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CF5C71-1C2C-4609-3C72-5B85E13C8F92}"/>
              </a:ext>
            </a:extLst>
          </p:cNvPr>
          <p:cNvCxnSpPr/>
          <p:nvPr/>
        </p:nvCxnSpPr>
        <p:spPr>
          <a:xfrm flipV="1">
            <a:off x="3074297" y="4877542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32E595F-119D-CBFD-CB6B-37DE59D89FEA}"/>
              </a:ext>
            </a:extLst>
          </p:cNvPr>
          <p:cNvCxnSpPr/>
          <p:nvPr/>
        </p:nvCxnSpPr>
        <p:spPr>
          <a:xfrm flipV="1">
            <a:off x="4236636" y="4850970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99C074B-AA33-6046-AC7C-B982EAB1155F}"/>
              </a:ext>
            </a:extLst>
          </p:cNvPr>
          <p:cNvCxnSpPr/>
          <p:nvPr/>
        </p:nvCxnSpPr>
        <p:spPr>
          <a:xfrm flipV="1">
            <a:off x="787859" y="5416416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8B70B9B-D0A0-BAC6-5ACC-98E7B96F999D}"/>
              </a:ext>
            </a:extLst>
          </p:cNvPr>
          <p:cNvCxnSpPr/>
          <p:nvPr/>
        </p:nvCxnSpPr>
        <p:spPr>
          <a:xfrm flipV="1">
            <a:off x="787859" y="6018321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5C054AA-3524-15D3-CE62-3E8E27B6B11A}"/>
              </a:ext>
            </a:extLst>
          </p:cNvPr>
          <p:cNvCxnSpPr/>
          <p:nvPr/>
        </p:nvCxnSpPr>
        <p:spPr>
          <a:xfrm flipV="1">
            <a:off x="4230259" y="5949352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BEB00A8-3924-FC8E-80F6-3EE4B69D03CF}"/>
              </a:ext>
            </a:extLst>
          </p:cNvPr>
          <p:cNvCxnSpPr/>
          <p:nvPr/>
        </p:nvCxnSpPr>
        <p:spPr>
          <a:xfrm flipV="1">
            <a:off x="4228314" y="1579925"/>
            <a:ext cx="585632" cy="350195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06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00"/>
                            </p:stCondLst>
                            <p:childTnLst>
                              <p:par>
                                <p:cTn id="20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000"/>
                            </p:stCondLst>
                            <p:childTnLst>
                              <p:par>
                                <p:cTn id="21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000"/>
                            </p:stCondLst>
                            <p:childTnLst>
                              <p:par>
                                <p:cTn id="23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00"/>
                            </p:stCondLst>
                            <p:childTnLst>
                              <p:par>
                                <p:cTn id="23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000"/>
                            </p:stCondLst>
                            <p:childTnLst>
                              <p:par>
                                <p:cTn id="24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2000"/>
                            </p:stCondLst>
                            <p:childTnLst>
                              <p:par>
                                <p:cTn id="25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2000"/>
                            </p:stCondLst>
                            <p:childTnLst>
                              <p:par>
                                <p:cTn id="26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000"/>
                            </p:stCondLst>
                            <p:childTnLst>
                              <p:par>
                                <p:cTn id="28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2000"/>
                            </p:stCondLst>
                            <p:childTnLst>
                              <p:par>
                                <p:cTn id="29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0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2000"/>
                            </p:stCondLst>
                            <p:childTnLst>
                              <p:par>
                                <p:cTn id="30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000"/>
                            </p:stCondLst>
                            <p:childTnLst>
                              <p:par>
                                <p:cTn id="31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2000"/>
                            </p:stCondLst>
                            <p:childTnLst>
                              <p:par>
                                <p:cTn id="31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000"/>
                            </p:stCondLst>
                            <p:childTnLst>
                              <p:par>
                                <p:cTn id="32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3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5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000"/>
                            </p:stCondLst>
                            <p:childTnLst>
                              <p:par>
                                <p:cTn id="34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000"/>
                            </p:stCondLst>
                            <p:childTnLst>
                              <p:par>
                                <p:cTn id="36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000"/>
                            </p:stCondLst>
                            <p:childTnLst>
                              <p:par>
                                <p:cTn id="37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2000"/>
                            </p:stCondLst>
                            <p:childTnLst>
                              <p:par>
                                <p:cTn id="37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2000"/>
                            </p:stCondLst>
                            <p:childTnLst>
                              <p:par>
                                <p:cTn id="38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3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2000"/>
                            </p:stCondLst>
                            <p:childTnLst>
                              <p:par>
                                <p:cTn id="39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2000"/>
                            </p:stCondLst>
                            <p:childTnLst>
                              <p:par>
                                <p:cTn id="40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000"/>
                            </p:stCondLst>
                            <p:childTnLst>
                              <p:par>
                                <p:cTn id="41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000"/>
                            </p:stCondLst>
                            <p:childTnLst>
                              <p:par>
                                <p:cTn id="4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4" grpId="0"/>
      <p:bldP spid="25" grpId="0"/>
      <p:bldP spid="26" grpId="0"/>
      <p:bldP spid="27" grpId="0"/>
      <p:bldP spid="56" grpId="0" animBg="1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5B20-97A7-4A15-90D6-547896C9CBF5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19</a:t>
            </a:fld>
            <a:endParaRPr lang="en-PH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20F43-7B65-A832-E740-5A6BF34B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09689"/>
              </p:ext>
            </p:extLst>
          </p:nvPr>
        </p:nvGraphicFramePr>
        <p:xfrm>
          <a:off x="3692624" y="408552"/>
          <a:ext cx="4809349" cy="4876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27430">
                  <a:extLst>
                    <a:ext uri="{9D8B030D-6E8A-4147-A177-3AD203B41FA5}">
                      <a16:colId xmlns:a16="http://schemas.microsoft.com/office/drawing/2014/main" val="2065133430"/>
                    </a:ext>
                  </a:extLst>
                </a:gridCol>
                <a:gridCol w="1881919">
                  <a:extLst>
                    <a:ext uri="{9D8B030D-6E8A-4147-A177-3AD203B41FA5}">
                      <a16:colId xmlns:a16="http://schemas.microsoft.com/office/drawing/2014/main" val="2033243855"/>
                    </a:ext>
                  </a:extLst>
                </a:gridCol>
              </a:tblGrid>
              <a:tr h="435752">
                <a:tc>
                  <a:txBody>
                    <a:bodyPr/>
                    <a:lstStyle/>
                    <a:p>
                      <a:pPr algn="ctr"/>
                      <a:r>
                        <a:rPr lang="en-PH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  <a:endParaRPr lang="en-PH" sz="4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PH" sz="40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549056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27-38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551807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39-50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7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2826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51-62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554374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63-74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532378"/>
                  </a:ext>
                </a:extLst>
              </a:tr>
              <a:tr h="57644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75-86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9910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87-98</a:t>
                      </a:r>
                      <a:endParaRPr lang="en-PH" sz="4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4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PH" sz="4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576797"/>
                  </a:ext>
                </a:extLst>
              </a:tr>
              <a:tr h="492741">
                <a:tc>
                  <a:txBody>
                    <a:bodyPr/>
                    <a:lstStyle/>
                    <a:p>
                      <a:pPr algn="ctr"/>
                      <a:r>
                        <a:rPr lang="en-PH" sz="40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PH" sz="40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r>
                        <a:rPr lang="en-PH" sz="40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PH" sz="400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PH" sz="40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997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107005" y="5432294"/>
            <a:ext cx="11994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>
                <a:latin typeface="Arial" panose="020B0604020202020204" pitchFamily="34" charset="0"/>
                <a:ea typeface="Times New Roman" panose="02020603050405020304" pitchFamily="18" charset="0"/>
              </a:rPr>
              <a:t>Frequency Distribution of Test Scores of 44 Students</a:t>
            </a:r>
            <a:endParaRPr lang="en-PH" sz="28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A35AE-AAD8-08FD-4F21-63DA83AC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BFA22-7BE2-734D-5736-2C6190A5D3B1}"/>
              </a:ext>
            </a:extLst>
          </p:cNvPr>
          <p:cNvSpPr txBox="1"/>
          <p:nvPr/>
        </p:nvSpPr>
        <p:spPr>
          <a:xfrm>
            <a:off x="2899316" y="5955514"/>
            <a:ext cx="638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Take a photo of this. </a:t>
            </a:r>
            <a:endParaRPr lang="en-PH" sz="16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3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0D03-E830-4929-0A80-D2211C7D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A1857FD-CCAD-66D1-7D39-1C6723C50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290A823-E62C-7FC6-185C-2D138F3EE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40B845-493C-B495-399E-1384A37A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D92C4-1F0D-44F2-9100-98B1AFB73FEA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0F7B69-DEA0-517A-600B-DA900A9C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20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014B2-5474-B779-8732-0090F6C93045}"/>
              </a:ext>
            </a:extLst>
          </p:cNvPr>
          <p:cNvSpPr txBox="1"/>
          <p:nvPr/>
        </p:nvSpPr>
        <p:spPr>
          <a:xfrm>
            <a:off x="1816016" y="753896"/>
            <a:ext cx="8555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Generating a Frequency Distribution (with class intervals) in Excel</a:t>
            </a:r>
            <a:endParaRPr lang="en-PH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EC2037-C922-591F-45DC-6A243CD5987B}"/>
              </a:ext>
            </a:extLst>
          </p:cNvPr>
          <p:cNvSpPr txBox="1"/>
          <p:nvPr/>
        </p:nvSpPr>
        <p:spPr>
          <a:xfrm>
            <a:off x="564476" y="2519476"/>
            <a:ext cx="1132272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1) Enter the raw data in one column.</a:t>
            </a:r>
          </a:p>
          <a:p>
            <a:r>
              <a:rPr lang="en-US" sz="2600" b="1" dirty="0"/>
              <a:t>2) Construct the class limits and type them in ascending order (from top to bottom) in another column and name it “Limits”.</a:t>
            </a:r>
          </a:p>
          <a:p>
            <a:r>
              <a:rPr lang="en-US" sz="2600" b="1" dirty="0"/>
              <a:t>3) Type the upper class boundaries in another column and name it “Boundaries”.</a:t>
            </a:r>
          </a:p>
          <a:p>
            <a:r>
              <a:rPr lang="en-US" sz="2600" b="1" dirty="0"/>
              <a:t>4) In the column beside the “Limits”, create a column frequency and name it “ </a:t>
            </a:r>
            <a:r>
              <a:rPr lang="en-US" sz="2600" b="1" i="1" dirty="0"/>
              <a:t>f </a:t>
            </a:r>
            <a:r>
              <a:rPr lang="en-US" sz="2600" b="1" dirty="0"/>
              <a:t>”.</a:t>
            </a:r>
          </a:p>
          <a:p>
            <a:r>
              <a:rPr lang="en-US" sz="2600" b="1" dirty="0"/>
              <a:t>5) Highlight the cells that should contain the frequencies.</a:t>
            </a:r>
          </a:p>
          <a:p>
            <a:r>
              <a:rPr lang="en-US" sz="2600" b="1" dirty="0"/>
              <a:t>6) Type =frequency(</a:t>
            </a:r>
            <a:r>
              <a:rPr lang="en-US" sz="2600" b="1" dirty="0" err="1"/>
              <a:t>data_array</a:t>
            </a:r>
            <a:r>
              <a:rPr lang="en-US" sz="2600" b="1" dirty="0"/>
              <a:t>, </a:t>
            </a:r>
            <a:r>
              <a:rPr lang="en-US" sz="2600" b="1" dirty="0" err="1"/>
              <a:t>bins_array</a:t>
            </a:r>
            <a:r>
              <a:rPr lang="en-US" sz="2600" b="1" dirty="0"/>
              <a:t>) and then press CTRL+SHIFT+ENTER.</a:t>
            </a:r>
          </a:p>
          <a:p>
            <a:r>
              <a:rPr lang="en-US" sz="2400" dirty="0"/>
              <a:t>     Note: </a:t>
            </a:r>
            <a:r>
              <a:rPr lang="en-US" sz="2400" dirty="0" err="1"/>
              <a:t>data_array</a:t>
            </a:r>
            <a:r>
              <a:rPr lang="en-US" sz="2400" dirty="0"/>
              <a:t> is the highlighted Raw Data (except the column name)</a:t>
            </a:r>
          </a:p>
          <a:p>
            <a:r>
              <a:rPr lang="en-US" sz="2400" dirty="0"/>
              <a:t>     Note: </a:t>
            </a:r>
            <a:r>
              <a:rPr lang="en-US" sz="2400" dirty="0" err="1"/>
              <a:t>bins_array</a:t>
            </a:r>
            <a:r>
              <a:rPr lang="en-US" sz="2400" dirty="0"/>
              <a:t> is the highlighted Upper Class Boundary (except the column name)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809FE-29BF-D2D8-FC88-C20B1959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076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F041-0376-4423-8DBF-EF90DF04D0F4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21</a:t>
            </a:fld>
            <a:endParaRPr lang="en-PH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20F43-7B65-A832-E740-5A6BF34B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91217"/>
              </p:ext>
            </p:extLst>
          </p:nvPr>
        </p:nvGraphicFramePr>
        <p:xfrm>
          <a:off x="660543" y="500991"/>
          <a:ext cx="10846861" cy="48541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6510">
                  <a:extLst>
                    <a:ext uri="{9D8B030D-6E8A-4147-A177-3AD203B41FA5}">
                      <a16:colId xmlns:a16="http://schemas.microsoft.com/office/drawing/2014/main" val="2065133430"/>
                    </a:ext>
                  </a:extLst>
                </a:gridCol>
                <a:gridCol w="700723">
                  <a:extLst>
                    <a:ext uri="{9D8B030D-6E8A-4147-A177-3AD203B41FA5}">
                      <a16:colId xmlns:a16="http://schemas.microsoft.com/office/drawing/2014/main" val="2033243855"/>
                    </a:ext>
                  </a:extLst>
                </a:gridCol>
                <a:gridCol w="1897698">
                  <a:extLst>
                    <a:ext uri="{9D8B030D-6E8A-4147-A177-3AD203B41FA5}">
                      <a16:colId xmlns:a16="http://schemas.microsoft.com/office/drawing/2014/main" val="1876397816"/>
                    </a:ext>
                  </a:extLst>
                </a:gridCol>
                <a:gridCol w="1119822">
                  <a:extLst>
                    <a:ext uri="{9D8B030D-6E8A-4147-A177-3AD203B41FA5}">
                      <a16:colId xmlns:a16="http://schemas.microsoft.com/office/drawing/2014/main" val="2582226135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908139309"/>
                    </a:ext>
                  </a:extLst>
                </a:gridCol>
                <a:gridCol w="1948498">
                  <a:extLst>
                    <a:ext uri="{9D8B030D-6E8A-4147-A177-3AD203B41FA5}">
                      <a16:colId xmlns:a16="http://schemas.microsoft.com/office/drawing/2014/main" val="256406449"/>
                    </a:ext>
                  </a:extLst>
                </a:gridCol>
                <a:gridCol w="2130850">
                  <a:extLst>
                    <a:ext uri="{9D8B030D-6E8A-4147-A177-3AD203B41FA5}">
                      <a16:colId xmlns:a16="http://schemas.microsoft.com/office/drawing/2014/main" val="1227430874"/>
                    </a:ext>
                  </a:extLst>
                </a:gridCol>
              </a:tblGrid>
              <a:tr h="43575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PH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lass </a:t>
                      </a:r>
                    </a:p>
                    <a:p>
                      <a:pPr algn="ctr"/>
                      <a:r>
                        <a:rPr lang="en-PH" sz="2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Limits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2400" i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PH" sz="2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Class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Boundaries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Class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Mark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Relative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Less-than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Cumulative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Greater-than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Cumulative </a:t>
                      </a:r>
                    </a:p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549056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27-38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551807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39-50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7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2826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51-62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554374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63-74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532378"/>
                  </a:ext>
                </a:extLst>
              </a:tr>
              <a:tr h="57644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75-86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9910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87-98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576797"/>
                  </a:ext>
                </a:extLst>
              </a:tr>
              <a:tr h="492741">
                <a:tc>
                  <a:txBody>
                    <a:bodyPr/>
                    <a:lstStyle/>
                    <a:p>
                      <a:pPr algn="ctr"/>
                      <a:r>
                        <a:rPr lang="en-PH" sz="3200" b="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PH" sz="3200" b="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r>
                        <a:rPr lang="en-PH" sz="32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PH" sz="320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32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997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107005" y="5432294"/>
            <a:ext cx="11994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>
                <a:latin typeface="Arial" panose="020B0604020202020204" pitchFamily="34" charset="0"/>
                <a:ea typeface="Times New Roman" panose="02020603050405020304" pitchFamily="18" charset="0"/>
              </a:rPr>
              <a:t>Expanded Frequency Distribution of Test Scores</a:t>
            </a:r>
            <a:endParaRPr lang="en-PH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1E381-C6A8-0238-417F-01FC31E76845}"/>
              </a:ext>
            </a:extLst>
          </p:cNvPr>
          <p:cNvSpPr txBox="1"/>
          <p:nvPr/>
        </p:nvSpPr>
        <p:spPr>
          <a:xfrm>
            <a:off x="2695431" y="1583700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26.5-38.5</a:t>
            </a:r>
            <a:endParaRPr lang="en-PH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30BCA-64F6-7B08-259B-67F67DE0E328}"/>
              </a:ext>
            </a:extLst>
          </p:cNvPr>
          <p:cNvSpPr txBox="1"/>
          <p:nvPr/>
        </p:nvSpPr>
        <p:spPr>
          <a:xfrm>
            <a:off x="2705159" y="2104147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38.5-50.5</a:t>
            </a:r>
            <a:endParaRPr lang="en-PH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5BA7A-3905-93BF-984C-37D7ACAB8F1E}"/>
              </a:ext>
            </a:extLst>
          </p:cNvPr>
          <p:cNvSpPr txBox="1"/>
          <p:nvPr/>
        </p:nvSpPr>
        <p:spPr>
          <a:xfrm>
            <a:off x="2696618" y="2653604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50.5-62.5</a:t>
            </a:r>
            <a:endParaRPr lang="en-PH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089B1-743F-6160-BCFB-D786D1325A2B}"/>
              </a:ext>
            </a:extLst>
          </p:cNvPr>
          <p:cNvSpPr txBox="1"/>
          <p:nvPr/>
        </p:nvSpPr>
        <p:spPr>
          <a:xfrm>
            <a:off x="2685703" y="3192020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62.5-74.5</a:t>
            </a:r>
            <a:endParaRPr lang="en-PH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B8F8E-AECD-08E4-F7F9-D6BB92FB0E00}"/>
              </a:ext>
            </a:extLst>
          </p:cNvPr>
          <p:cNvSpPr txBox="1"/>
          <p:nvPr/>
        </p:nvSpPr>
        <p:spPr>
          <a:xfrm>
            <a:off x="2714887" y="3763221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74.5-86.5</a:t>
            </a:r>
            <a:endParaRPr lang="en-PH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5F08B-058A-E2DE-CDE2-BD7D20578A29}"/>
              </a:ext>
            </a:extLst>
          </p:cNvPr>
          <p:cNvSpPr txBox="1"/>
          <p:nvPr/>
        </p:nvSpPr>
        <p:spPr>
          <a:xfrm>
            <a:off x="2705159" y="4286060"/>
            <a:ext cx="180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86.5-98.5</a:t>
            </a:r>
            <a:endParaRPr lang="en-PH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749B69-B890-57B5-0BBB-B100621347D9}"/>
              </a:ext>
            </a:extLst>
          </p:cNvPr>
          <p:cNvSpPr txBox="1"/>
          <p:nvPr/>
        </p:nvSpPr>
        <p:spPr>
          <a:xfrm>
            <a:off x="4630367" y="1581422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32.5</a:t>
            </a:r>
            <a:endParaRPr lang="en-PH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FE952-BCC5-AC36-277C-CE9D3D171627}"/>
              </a:ext>
            </a:extLst>
          </p:cNvPr>
          <p:cNvSpPr txBox="1"/>
          <p:nvPr/>
        </p:nvSpPr>
        <p:spPr>
          <a:xfrm>
            <a:off x="4623201" y="2083956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44.5</a:t>
            </a:r>
            <a:endParaRPr lang="en-PH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8FA27F-3F14-47D3-FD12-5E0FE0F4878E}"/>
              </a:ext>
            </a:extLst>
          </p:cNvPr>
          <p:cNvSpPr txBox="1"/>
          <p:nvPr/>
        </p:nvSpPr>
        <p:spPr>
          <a:xfrm>
            <a:off x="4630367" y="2648177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56.5</a:t>
            </a:r>
            <a:endParaRPr lang="en-PH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79037-44E5-0BFB-D691-BCFC9D1FF17F}"/>
              </a:ext>
            </a:extLst>
          </p:cNvPr>
          <p:cNvSpPr txBox="1"/>
          <p:nvPr/>
        </p:nvSpPr>
        <p:spPr>
          <a:xfrm>
            <a:off x="4619452" y="3199080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68.5</a:t>
            </a:r>
            <a:endParaRPr lang="en-PH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09DE37-FA20-4592-0581-14252760B1E3}"/>
              </a:ext>
            </a:extLst>
          </p:cNvPr>
          <p:cNvSpPr txBox="1"/>
          <p:nvPr/>
        </p:nvSpPr>
        <p:spPr>
          <a:xfrm>
            <a:off x="4631742" y="3730798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80.5</a:t>
            </a:r>
            <a:endParaRPr lang="en-PH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99374-81CB-E4BD-1518-5A33646B5467}"/>
              </a:ext>
            </a:extLst>
          </p:cNvPr>
          <p:cNvSpPr txBox="1"/>
          <p:nvPr/>
        </p:nvSpPr>
        <p:spPr>
          <a:xfrm>
            <a:off x="4648636" y="4285291"/>
            <a:ext cx="97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92.5</a:t>
            </a:r>
            <a:endParaRPr lang="en-PH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C2D3D-0DCF-2BCB-A644-5A533B04AAC3}"/>
              </a:ext>
            </a:extLst>
          </p:cNvPr>
          <p:cNvSpPr txBox="1"/>
          <p:nvPr/>
        </p:nvSpPr>
        <p:spPr>
          <a:xfrm>
            <a:off x="5719866" y="1568860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2.27%</a:t>
            </a:r>
            <a:endParaRPr lang="en-PH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671AF3-B0F7-B01B-B3D0-8F55A42B3625}"/>
              </a:ext>
            </a:extLst>
          </p:cNvPr>
          <p:cNvSpPr txBox="1"/>
          <p:nvPr/>
        </p:nvSpPr>
        <p:spPr>
          <a:xfrm>
            <a:off x="5727971" y="2104727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13.64%</a:t>
            </a:r>
            <a:endParaRPr lang="en-PH" sz="2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9EDA8-65A2-623B-AB3C-97C28CD7B4F0}"/>
              </a:ext>
            </a:extLst>
          </p:cNvPr>
          <p:cNvSpPr txBox="1"/>
          <p:nvPr/>
        </p:nvSpPr>
        <p:spPr>
          <a:xfrm>
            <a:off x="5718243" y="2651340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25.00%</a:t>
            </a:r>
            <a:endParaRPr lang="en-PH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05703F-F335-38CF-DC88-42A21E780E3B}"/>
              </a:ext>
            </a:extLst>
          </p:cNvPr>
          <p:cNvSpPr txBox="1"/>
          <p:nvPr/>
        </p:nvSpPr>
        <p:spPr>
          <a:xfrm>
            <a:off x="5737888" y="3185221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38.64%</a:t>
            </a:r>
            <a:endParaRPr lang="en-PH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065AD8-CFB8-8FAD-C09E-021A6BBF9376}"/>
              </a:ext>
            </a:extLst>
          </p:cNvPr>
          <p:cNvSpPr txBox="1"/>
          <p:nvPr/>
        </p:nvSpPr>
        <p:spPr>
          <a:xfrm>
            <a:off x="5745993" y="3730816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15.91%</a:t>
            </a:r>
            <a:endParaRPr lang="en-PH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ABF02-6C79-8C78-3445-F0EC685E5E14}"/>
              </a:ext>
            </a:extLst>
          </p:cNvPr>
          <p:cNvSpPr txBox="1"/>
          <p:nvPr/>
        </p:nvSpPr>
        <p:spPr>
          <a:xfrm>
            <a:off x="5736265" y="4296885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4.54%</a:t>
            </a:r>
            <a:endParaRPr lang="en-PH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0403F8-78A5-5131-5FDD-7F6254086CB4}"/>
              </a:ext>
            </a:extLst>
          </p:cNvPr>
          <p:cNvSpPr txBox="1"/>
          <p:nvPr/>
        </p:nvSpPr>
        <p:spPr>
          <a:xfrm>
            <a:off x="7583649" y="1568860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  <a:endParaRPr lang="en-PH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5C3964-A101-CE31-060E-D91B97FAB29E}"/>
              </a:ext>
            </a:extLst>
          </p:cNvPr>
          <p:cNvSpPr txBox="1"/>
          <p:nvPr/>
        </p:nvSpPr>
        <p:spPr>
          <a:xfrm>
            <a:off x="7599398" y="2104147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7</a:t>
            </a:r>
            <a:endParaRPr lang="en-PH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469C82-A52F-64EA-E3A1-AC17172D17E3}"/>
              </a:ext>
            </a:extLst>
          </p:cNvPr>
          <p:cNvSpPr txBox="1"/>
          <p:nvPr/>
        </p:nvSpPr>
        <p:spPr>
          <a:xfrm>
            <a:off x="7599398" y="2668731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18</a:t>
            </a:r>
            <a:endParaRPr lang="en-PH" sz="2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BD37D9-8B2E-274D-3743-A96C838E948A}"/>
              </a:ext>
            </a:extLst>
          </p:cNvPr>
          <p:cNvSpPr txBox="1"/>
          <p:nvPr/>
        </p:nvSpPr>
        <p:spPr>
          <a:xfrm>
            <a:off x="7615147" y="3204018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35</a:t>
            </a:r>
            <a:endParaRPr lang="en-PH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1FAEF-875F-9D89-9B32-1A4B4777BA14}"/>
              </a:ext>
            </a:extLst>
          </p:cNvPr>
          <p:cNvSpPr txBox="1"/>
          <p:nvPr/>
        </p:nvSpPr>
        <p:spPr>
          <a:xfrm>
            <a:off x="7599398" y="3771800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42</a:t>
            </a:r>
            <a:endParaRPr lang="en-PH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6C745-C07C-BC13-FAA7-42560AAC22F0}"/>
              </a:ext>
            </a:extLst>
          </p:cNvPr>
          <p:cNvSpPr txBox="1"/>
          <p:nvPr/>
        </p:nvSpPr>
        <p:spPr>
          <a:xfrm>
            <a:off x="7615147" y="4307087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44</a:t>
            </a:r>
            <a:endParaRPr lang="en-PH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310BCE-73B7-D577-3503-F21C0EC90E14}"/>
              </a:ext>
            </a:extLst>
          </p:cNvPr>
          <p:cNvSpPr txBox="1"/>
          <p:nvPr/>
        </p:nvSpPr>
        <p:spPr>
          <a:xfrm>
            <a:off x="9585098" y="1588316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44</a:t>
            </a:r>
            <a:endParaRPr lang="en-PH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16EE46-2319-2B63-AB19-FD8D5EEC3EA6}"/>
              </a:ext>
            </a:extLst>
          </p:cNvPr>
          <p:cNvSpPr txBox="1"/>
          <p:nvPr/>
        </p:nvSpPr>
        <p:spPr>
          <a:xfrm>
            <a:off x="9600847" y="2123603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43</a:t>
            </a:r>
            <a:endParaRPr lang="en-PH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594E2F-E411-DC73-1530-52928DA605B4}"/>
              </a:ext>
            </a:extLst>
          </p:cNvPr>
          <p:cNvSpPr txBox="1"/>
          <p:nvPr/>
        </p:nvSpPr>
        <p:spPr>
          <a:xfrm>
            <a:off x="9600847" y="2688187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37</a:t>
            </a:r>
            <a:endParaRPr lang="en-PH" sz="2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6E949-1952-DAC1-949E-D3510AD7A420}"/>
              </a:ext>
            </a:extLst>
          </p:cNvPr>
          <p:cNvSpPr txBox="1"/>
          <p:nvPr/>
        </p:nvSpPr>
        <p:spPr>
          <a:xfrm>
            <a:off x="9616596" y="3223474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26</a:t>
            </a:r>
            <a:endParaRPr lang="en-PH" sz="2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ABDE95-C602-A485-6D12-6B4BCB64B8A6}"/>
              </a:ext>
            </a:extLst>
          </p:cNvPr>
          <p:cNvSpPr txBox="1"/>
          <p:nvPr/>
        </p:nvSpPr>
        <p:spPr>
          <a:xfrm>
            <a:off x="9600847" y="3791256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9</a:t>
            </a:r>
            <a:endParaRPr lang="en-PH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85A61B-DF57-D236-AF02-BFE3D0C0E812}"/>
              </a:ext>
            </a:extLst>
          </p:cNvPr>
          <p:cNvSpPr txBox="1"/>
          <p:nvPr/>
        </p:nvSpPr>
        <p:spPr>
          <a:xfrm>
            <a:off x="9616596" y="4326543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  <a:endParaRPr lang="en-PH" sz="2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5D104E-50AD-37D1-F1F5-21460F19C3FC}"/>
              </a:ext>
            </a:extLst>
          </p:cNvPr>
          <p:cNvSpPr txBox="1"/>
          <p:nvPr/>
        </p:nvSpPr>
        <p:spPr>
          <a:xfrm>
            <a:off x="5707763" y="4822278"/>
            <a:ext cx="168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100%</a:t>
            </a:r>
            <a:endParaRPr lang="en-PH" sz="2000" i="1" dirty="0">
              <a:solidFill>
                <a:schemeClr val="bg1"/>
              </a:solidFill>
            </a:endParaRP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EA8C42F0-0387-031E-669C-1BF2469C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010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5" grpId="0"/>
      <p:bldP spid="7" grpId="0"/>
      <p:bldP spid="9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FBED-29F4-4139-ABFC-68E4F7F4BE33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22</a:t>
            </a:fld>
            <a:endParaRPr lang="en-PH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20F43-7B65-A832-E740-5A6BF34BA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99634"/>
              </p:ext>
            </p:extLst>
          </p:nvPr>
        </p:nvGraphicFramePr>
        <p:xfrm>
          <a:off x="660543" y="170275"/>
          <a:ext cx="10846861" cy="41926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6510">
                  <a:extLst>
                    <a:ext uri="{9D8B030D-6E8A-4147-A177-3AD203B41FA5}">
                      <a16:colId xmlns:a16="http://schemas.microsoft.com/office/drawing/2014/main" val="2065133430"/>
                    </a:ext>
                  </a:extLst>
                </a:gridCol>
                <a:gridCol w="700723">
                  <a:extLst>
                    <a:ext uri="{9D8B030D-6E8A-4147-A177-3AD203B41FA5}">
                      <a16:colId xmlns:a16="http://schemas.microsoft.com/office/drawing/2014/main" val="2033243855"/>
                    </a:ext>
                  </a:extLst>
                </a:gridCol>
                <a:gridCol w="1897698">
                  <a:extLst>
                    <a:ext uri="{9D8B030D-6E8A-4147-A177-3AD203B41FA5}">
                      <a16:colId xmlns:a16="http://schemas.microsoft.com/office/drawing/2014/main" val="1876397816"/>
                    </a:ext>
                  </a:extLst>
                </a:gridCol>
                <a:gridCol w="1119822">
                  <a:extLst>
                    <a:ext uri="{9D8B030D-6E8A-4147-A177-3AD203B41FA5}">
                      <a16:colId xmlns:a16="http://schemas.microsoft.com/office/drawing/2014/main" val="2582226135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908139309"/>
                    </a:ext>
                  </a:extLst>
                </a:gridCol>
                <a:gridCol w="1948498">
                  <a:extLst>
                    <a:ext uri="{9D8B030D-6E8A-4147-A177-3AD203B41FA5}">
                      <a16:colId xmlns:a16="http://schemas.microsoft.com/office/drawing/2014/main" val="256406449"/>
                    </a:ext>
                  </a:extLst>
                </a:gridCol>
                <a:gridCol w="2130850">
                  <a:extLst>
                    <a:ext uri="{9D8B030D-6E8A-4147-A177-3AD203B41FA5}">
                      <a16:colId xmlns:a16="http://schemas.microsoft.com/office/drawing/2014/main" val="1227430874"/>
                    </a:ext>
                  </a:extLst>
                </a:gridCol>
              </a:tblGrid>
              <a:tr h="4357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LCL-UCL</a:t>
                      </a:r>
                      <a:endParaRPr lang="en-PH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LCB-UCB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CM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549056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27-38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551807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39-50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7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2826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51-62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554374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63-74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532378"/>
                  </a:ext>
                </a:extLst>
              </a:tr>
              <a:tr h="57644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75-86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9910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87-98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576797"/>
                  </a:ext>
                </a:extLst>
              </a:tr>
              <a:tr h="492741">
                <a:tc>
                  <a:txBody>
                    <a:bodyPr/>
                    <a:lstStyle/>
                    <a:p>
                      <a:pPr algn="ctr"/>
                      <a:r>
                        <a:rPr lang="en-PH" sz="2800" b="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PH" sz="2800" b="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r>
                        <a:rPr lang="en-PH" sz="28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PH" sz="280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997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495168" y="4444720"/>
            <a:ext cx="115314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latin typeface="Arial" panose="020B0604020202020204" pitchFamily="34" charset="0"/>
                <a:ea typeface="Times New Roman" panose="02020603050405020304" pitchFamily="18" charset="0"/>
              </a:rPr>
              <a:t>Sample Interpretations: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PH" sz="3200" b="1" dirty="0"/>
              <a:t>11 students got scores from 51 to 62.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PH" sz="3200" b="1" dirty="0"/>
              <a:t>The average score of the students in the 3</a:t>
            </a:r>
            <a:r>
              <a:rPr lang="en-PH" sz="3200" b="1" baseline="30000" dirty="0"/>
              <a:t>rd</a:t>
            </a:r>
            <a:r>
              <a:rPr lang="en-PH" sz="3200" b="1" dirty="0"/>
              <a:t> class interval is 56.5.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PH" sz="3200" b="1" dirty="0"/>
              <a:t>25% of the students got scores between 51 and 62 (inclusive).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B2CF84-01B2-3552-EB44-C12385B84139}"/>
              </a:ext>
            </a:extLst>
          </p:cNvPr>
          <p:cNvGrpSpPr/>
          <p:nvPr/>
        </p:nvGrpSpPr>
        <p:grpSpPr>
          <a:xfrm>
            <a:off x="2685703" y="586368"/>
            <a:ext cx="8613777" cy="3776638"/>
            <a:chOff x="2685703" y="1568860"/>
            <a:chExt cx="8613777" cy="377663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4A1E381-C6A8-0238-417F-01FC31E76845}"/>
                </a:ext>
              </a:extLst>
            </p:cNvPr>
            <p:cNvSpPr txBox="1"/>
            <p:nvPr/>
          </p:nvSpPr>
          <p:spPr>
            <a:xfrm>
              <a:off x="2695431" y="158370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26.5-38.5</a:t>
              </a:r>
              <a:endParaRPr lang="en-PH" sz="2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1D30BCA-64F6-7B08-259B-67F67DE0E328}"/>
                </a:ext>
              </a:extLst>
            </p:cNvPr>
            <p:cNvSpPr txBox="1"/>
            <p:nvPr/>
          </p:nvSpPr>
          <p:spPr>
            <a:xfrm>
              <a:off x="2705159" y="2104147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38.5-50.5</a:t>
              </a:r>
              <a:endParaRPr lang="en-PH" sz="20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65BA7A-3905-93BF-984C-37D7ACAB8F1E}"/>
                </a:ext>
              </a:extLst>
            </p:cNvPr>
            <p:cNvSpPr txBox="1"/>
            <p:nvPr/>
          </p:nvSpPr>
          <p:spPr>
            <a:xfrm>
              <a:off x="2696618" y="2653604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50.5-62.5</a:t>
              </a:r>
              <a:endParaRPr lang="en-PH" sz="2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3089B1-743F-6160-BCFB-D786D1325A2B}"/>
                </a:ext>
              </a:extLst>
            </p:cNvPr>
            <p:cNvSpPr txBox="1"/>
            <p:nvPr/>
          </p:nvSpPr>
          <p:spPr>
            <a:xfrm>
              <a:off x="2685703" y="319202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62.5-74.5</a:t>
              </a:r>
              <a:endParaRPr lang="en-PH" sz="20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2B8F8E-AECD-08E4-F7F9-D6BB92FB0E00}"/>
                </a:ext>
              </a:extLst>
            </p:cNvPr>
            <p:cNvSpPr txBox="1"/>
            <p:nvPr/>
          </p:nvSpPr>
          <p:spPr>
            <a:xfrm>
              <a:off x="2714887" y="3763221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74.5-86.5</a:t>
              </a:r>
              <a:endParaRPr lang="en-PH" sz="20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5F08B-058A-E2DE-CDE2-BD7D20578A29}"/>
                </a:ext>
              </a:extLst>
            </p:cNvPr>
            <p:cNvSpPr txBox="1"/>
            <p:nvPr/>
          </p:nvSpPr>
          <p:spPr>
            <a:xfrm>
              <a:off x="2705159" y="428606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86.5-98.5</a:t>
              </a:r>
              <a:endParaRPr lang="en-PH" sz="20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749B69-B890-57B5-0BBB-B100621347D9}"/>
                </a:ext>
              </a:extLst>
            </p:cNvPr>
            <p:cNvSpPr txBox="1"/>
            <p:nvPr/>
          </p:nvSpPr>
          <p:spPr>
            <a:xfrm>
              <a:off x="4630367" y="1581422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32.5</a:t>
              </a:r>
              <a:endParaRPr lang="en-PH" sz="20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4FE952-BCC5-AC36-277C-CE9D3D171627}"/>
                </a:ext>
              </a:extLst>
            </p:cNvPr>
            <p:cNvSpPr txBox="1"/>
            <p:nvPr/>
          </p:nvSpPr>
          <p:spPr>
            <a:xfrm>
              <a:off x="4623201" y="2083956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44.5</a:t>
              </a:r>
              <a:endParaRPr lang="en-PH" sz="20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8FA27F-3F14-47D3-FD12-5E0FE0F4878E}"/>
                </a:ext>
              </a:extLst>
            </p:cNvPr>
            <p:cNvSpPr txBox="1"/>
            <p:nvPr/>
          </p:nvSpPr>
          <p:spPr>
            <a:xfrm>
              <a:off x="4630367" y="2648177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56.5</a:t>
              </a:r>
              <a:endParaRPr lang="en-PH" sz="20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D79037-44E5-0BFB-D691-BCFC9D1FF17F}"/>
                </a:ext>
              </a:extLst>
            </p:cNvPr>
            <p:cNvSpPr txBox="1"/>
            <p:nvPr/>
          </p:nvSpPr>
          <p:spPr>
            <a:xfrm>
              <a:off x="4619452" y="3199080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68.5</a:t>
              </a:r>
              <a:endParaRPr lang="en-PH" sz="20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09DE37-FA20-4592-0581-14252760B1E3}"/>
                </a:ext>
              </a:extLst>
            </p:cNvPr>
            <p:cNvSpPr txBox="1"/>
            <p:nvPr/>
          </p:nvSpPr>
          <p:spPr>
            <a:xfrm>
              <a:off x="4631742" y="3730798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80.5</a:t>
              </a:r>
              <a:endParaRPr lang="en-PH" sz="20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299374-81CB-E4BD-1518-5A33646B5467}"/>
                </a:ext>
              </a:extLst>
            </p:cNvPr>
            <p:cNvSpPr txBox="1"/>
            <p:nvPr/>
          </p:nvSpPr>
          <p:spPr>
            <a:xfrm>
              <a:off x="4648636" y="4285291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92.5</a:t>
              </a:r>
              <a:endParaRPr lang="en-PH" sz="20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5C2D3D-0DCF-2BCB-A644-5A533B04AAC3}"/>
                </a:ext>
              </a:extLst>
            </p:cNvPr>
            <p:cNvSpPr txBox="1"/>
            <p:nvPr/>
          </p:nvSpPr>
          <p:spPr>
            <a:xfrm>
              <a:off x="5719866" y="156886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2.27%</a:t>
              </a:r>
              <a:endParaRPr lang="en-PH" sz="20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671AF3-B0F7-B01B-B3D0-8F55A42B3625}"/>
                </a:ext>
              </a:extLst>
            </p:cNvPr>
            <p:cNvSpPr txBox="1"/>
            <p:nvPr/>
          </p:nvSpPr>
          <p:spPr>
            <a:xfrm>
              <a:off x="5727971" y="210472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13.64%</a:t>
              </a:r>
              <a:endParaRPr lang="en-PH" sz="20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C9EDA8-65A2-623B-AB3C-97C28CD7B4F0}"/>
                </a:ext>
              </a:extLst>
            </p:cNvPr>
            <p:cNvSpPr txBox="1"/>
            <p:nvPr/>
          </p:nvSpPr>
          <p:spPr>
            <a:xfrm>
              <a:off x="5718243" y="265134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25.00%</a:t>
              </a:r>
              <a:endParaRPr lang="en-PH" sz="20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05703F-F335-38CF-DC88-42A21E780E3B}"/>
                </a:ext>
              </a:extLst>
            </p:cNvPr>
            <p:cNvSpPr txBox="1"/>
            <p:nvPr/>
          </p:nvSpPr>
          <p:spPr>
            <a:xfrm>
              <a:off x="5737888" y="3185221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38.64%</a:t>
              </a:r>
              <a:endParaRPr lang="en-PH" sz="20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065AD8-CFB8-8FAD-C09E-021A6BBF9376}"/>
                </a:ext>
              </a:extLst>
            </p:cNvPr>
            <p:cNvSpPr txBox="1"/>
            <p:nvPr/>
          </p:nvSpPr>
          <p:spPr>
            <a:xfrm>
              <a:off x="5745993" y="373081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15.91%</a:t>
              </a:r>
              <a:endParaRPr lang="en-PH" sz="20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CABF02-6C79-8C78-3445-F0EC685E5E14}"/>
                </a:ext>
              </a:extLst>
            </p:cNvPr>
            <p:cNvSpPr txBox="1"/>
            <p:nvPr/>
          </p:nvSpPr>
          <p:spPr>
            <a:xfrm>
              <a:off x="5736265" y="4296885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4.54%</a:t>
              </a:r>
              <a:endParaRPr lang="en-PH" sz="20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0403F8-78A5-5131-5FDD-7F6254086CB4}"/>
                </a:ext>
              </a:extLst>
            </p:cNvPr>
            <p:cNvSpPr txBox="1"/>
            <p:nvPr/>
          </p:nvSpPr>
          <p:spPr>
            <a:xfrm>
              <a:off x="7583649" y="156886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</a:t>
              </a:r>
              <a:endParaRPr lang="en-PH" sz="20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5C3964-A101-CE31-060E-D91B97FAB29E}"/>
                </a:ext>
              </a:extLst>
            </p:cNvPr>
            <p:cNvSpPr txBox="1"/>
            <p:nvPr/>
          </p:nvSpPr>
          <p:spPr>
            <a:xfrm>
              <a:off x="7599398" y="210414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7</a:t>
              </a:r>
              <a:endParaRPr lang="en-PH" sz="20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7469C82-A52F-64EA-E3A1-AC17172D17E3}"/>
                </a:ext>
              </a:extLst>
            </p:cNvPr>
            <p:cNvSpPr txBox="1"/>
            <p:nvPr/>
          </p:nvSpPr>
          <p:spPr>
            <a:xfrm>
              <a:off x="7599398" y="2668731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18</a:t>
              </a:r>
              <a:endParaRPr lang="en-PH" sz="20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9BD37D9-8B2E-274D-3743-A96C838E948A}"/>
                </a:ext>
              </a:extLst>
            </p:cNvPr>
            <p:cNvSpPr txBox="1"/>
            <p:nvPr/>
          </p:nvSpPr>
          <p:spPr>
            <a:xfrm>
              <a:off x="7615147" y="3204018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35</a:t>
              </a:r>
              <a:endParaRPr lang="en-PH" sz="20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1FAEF-875F-9D89-9B32-1A4B4777BA14}"/>
                </a:ext>
              </a:extLst>
            </p:cNvPr>
            <p:cNvSpPr txBox="1"/>
            <p:nvPr/>
          </p:nvSpPr>
          <p:spPr>
            <a:xfrm>
              <a:off x="7599398" y="377180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42</a:t>
              </a:r>
              <a:endParaRPr lang="en-PH" sz="2000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86C745-C07C-BC13-FAA7-42560AAC22F0}"/>
                </a:ext>
              </a:extLst>
            </p:cNvPr>
            <p:cNvSpPr txBox="1"/>
            <p:nvPr/>
          </p:nvSpPr>
          <p:spPr>
            <a:xfrm>
              <a:off x="7615147" y="430708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</a:t>
              </a:r>
              <a:endParaRPr lang="en-PH" sz="20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310BCE-73B7-D577-3503-F21C0EC90E14}"/>
                </a:ext>
              </a:extLst>
            </p:cNvPr>
            <p:cNvSpPr txBox="1"/>
            <p:nvPr/>
          </p:nvSpPr>
          <p:spPr>
            <a:xfrm>
              <a:off x="9585098" y="158831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</a:t>
              </a:r>
              <a:endParaRPr lang="en-PH" sz="20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16EE46-2319-2B63-AB19-FD8D5EEC3EA6}"/>
                </a:ext>
              </a:extLst>
            </p:cNvPr>
            <p:cNvSpPr txBox="1"/>
            <p:nvPr/>
          </p:nvSpPr>
          <p:spPr>
            <a:xfrm>
              <a:off x="9600847" y="2123603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43</a:t>
              </a:r>
              <a:endParaRPr lang="en-PH" sz="20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E594E2F-E411-DC73-1530-52928DA605B4}"/>
                </a:ext>
              </a:extLst>
            </p:cNvPr>
            <p:cNvSpPr txBox="1"/>
            <p:nvPr/>
          </p:nvSpPr>
          <p:spPr>
            <a:xfrm>
              <a:off x="9600847" y="268818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37</a:t>
              </a:r>
              <a:endParaRPr lang="en-PH" sz="20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A6E949-1952-DAC1-949E-D3510AD7A420}"/>
                </a:ext>
              </a:extLst>
            </p:cNvPr>
            <p:cNvSpPr txBox="1"/>
            <p:nvPr/>
          </p:nvSpPr>
          <p:spPr>
            <a:xfrm>
              <a:off x="9616596" y="3223474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26</a:t>
              </a:r>
              <a:endParaRPr lang="en-PH" sz="20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ABDE95-C602-A485-6D12-6B4BCB64B8A6}"/>
                </a:ext>
              </a:extLst>
            </p:cNvPr>
            <p:cNvSpPr txBox="1"/>
            <p:nvPr/>
          </p:nvSpPr>
          <p:spPr>
            <a:xfrm>
              <a:off x="9600847" y="379125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9</a:t>
              </a:r>
              <a:endParaRPr lang="en-PH" sz="20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85A61B-DF57-D236-AF02-BFE3D0C0E812}"/>
                </a:ext>
              </a:extLst>
            </p:cNvPr>
            <p:cNvSpPr txBox="1"/>
            <p:nvPr/>
          </p:nvSpPr>
          <p:spPr>
            <a:xfrm>
              <a:off x="9616596" y="4326543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</a:t>
              </a:r>
              <a:endParaRPr lang="en-PH" sz="20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5D104E-50AD-37D1-F1F5-21460F19C3FC}"/>
                </a:ext>
              </a:extLst>
            </p:cNvPr>
            <p:cNvSpPr txBox="1"/>
            <p:nvPr/>
          </p:nvSpPr>
          <p:spPr>
            <a:xfrm>
              <a:off x="5707763" y="4822278"/>
              <a:ext cx="1682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</a:rPr>
                <a:t>100%</a:t>
              </a:r>
              <a:endParaRPr lang="en-PH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8EAABCF4-5FCD-E6CD-0B45-20A420864D24}"/>
              </a:ext>
            </a:extLst>
          </p:cNvPr>
          <p:cNvSpPr/>
          <p:nvPr/>
        </p:nvSpPr>
        <p:spPr>
          <a:xfrm>
            <a:off x="660542" y="1715423"/>
            <a:ext cx="10846859" cy="482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CEE8FC11-EA8A-AB02-321F-1FA8BDE0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6958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DA123-F61D-4ED5-9D3B-64EA0F71CC36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23</a:t>
            </a:fld>
            <a:endParaRPr lang="en-PH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20F43-7B65-A832-E740-5A6BF34BA36A}"/>
              </a:ext>
            </a:extLst>
          </p:cNvPr>
          <p:cNvGraphicFramePr>
            <a:graphicFrameLocks noGrp="1"/>
          </p:cNvGraphicFramePr>
          <p:nvPr/>
        </p:nvGraphicFramePr>
        <p:xfrm>
          <a:off x="660543" y="170275"/>
          <a:ext cx="10846861" cy="41926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6510">
                  <a:extLst>
                    <a:ext uri="{9D8B030D-6E8A-4147-A177-3AD203B41FA5}">
                      <a16:colId xmlns:a16="http://schemas.microsoft.com/office/drawing/2014/main" val="2065133430"/>
                    </a:ext>
                  </a:extLst>
                </a:gridCol>
                <a:gridCol w="700723">
                  <a:extLst>
                    <a:ext uri="{9D8B030D-6E8A-4147-A177-3AD203B41FA5}">
                      <a16:colId xmlns:a16="http://schemas.microsoft.com/office/drawing/2014/main" val="2033243855"/>
                    </a:ext>
                  </a:extLst>
                </a:gridCol>
                <a:gridCol w="1897698">
                  <a:extLst>
                    <a:ext uri="{9D8B030D-6E8A-4147-A177-3AD203B41FA5}">
                      <a16:colId xmlns:a16="http://schemas.microsoft.com/office/drawing/2014/main" val="1876397816"/>
                    </a:ext>
                  </a:extLst>
                </a:gridCol>
                <a:gridCol w="1119822">
                  <a:extLst>
                    <a:ext uri="{9D8B030D-6E8A-4147-A177-3AD203B41FA5}">
                      <a16:colId xmlns:a16="http://schemas.microsoft.com/office/drawing/2014/main" val="2582226135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908139309"/>
                    </a:ext>
                  </a:extLst>
                </a:gridCol>
                <a:gridCol w="1948498">
                  <a:extLst>
                    <a:ext uri="{9D8B030D-6E8A-4147-A177-3AD203B41FA5}">
                      <a16:colId xmlns:a16="http://schemas.microsoft.com/office/drawing/2014/main" val="256406449"/>
                    </a:ext>
                  </a:extLst>
                </a:gridCol>
                <a:gridCol w="2130850">
                  <a:extLst>
                    <a:ext uri="{9D8B030D-6E8A-4147-A177-3AD203B41FA5}">
                      <a16:colId xmlns:a16="http://schemas.microsoft.com/office/drawing/2014/main" val="1227430874"/>
                    </a:ext>
                  </a:extLst>
                </a:gridCol>
              </a:tblGrid>
              <a:tr h="4357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LCL-UCL</a:t>
                      </a:r>
                      <a:endParaRPr lang="en-PH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LCB-UCB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CM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&gt;F</a:t>
                      </a:r>
                      <a:endParaRPr lang="en-PH" sz="2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2549056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27-38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9551807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39-50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7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2826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51-62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11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6554374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63-74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4532378"/>
                  </a:ext>
                </a:extLst>
              </a:tr>
              <a:tr h="57644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75-86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991003"/>
                  </a:ext>
                </a:extLst>
              </a:tr>
              <a:tr h="537536"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87-98</a:t>
                      </a:r>
                      <a:endParaRPr lang="en-PH" sz="32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3200" b="1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PH" sz="3200" b="1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576797"/>
                  </a:ext>
                </a:extLst>
              </a:tr>
              <a:tr h="492741">
                <a:tc>
                  <a:txBody>
                    <a:bodyPr/>
                    <a:lstStyle/>
                    <a:p>
                      <a:pPr algn="ctr"/>
                      <a:r>
                        <a:rPr lang="en-PH" sz="2800" b="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PH" sz="2800" b="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r>
                        <a:rPr lang="en-PH" sz="2800" i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PH" sz="2800" i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4300" algn="ctr"/>
                        </a:tabLst>
                      </a:pPr>
                      <a:endParaRPr lang="en-PH" sz="2800" i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997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650816" y="4444720"/>
            <a:ext cx="1153145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latin typeface="Arial" panose="020B0604020202020204" pitchFamily="34" charset="0"/>
                <a:ea typeface="Times New Roman" panose="02020603050405020304" pitchFamily="18" charset="0"/>
              </a:rPr>
              <a:t>Sample Interpretations: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PH" sz="3200" b="1" dirty="0"/>
              <a:t>18 students got a score of 62 and below.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PH" sz="3200" b="1" dirty="0"/>
              <a:t>37 students got a score of 51 and above.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B2CF84-01B2-3552-EB44-C12385B84139}"/>
              </a:ext>
            </a:extLst>
          </p:cNvPr>
          <p:cNvGrpSpPr/>
          <p:nvPr/>
        </p:nvGrpSpPr>
        <p:grpSpPr>
          <a:xfrm>
            <a:off x="2685703" y="586368"/>
            <a:ext cx="8613777" cy="3776638"/>
            <a:chOff x="2685703" y="1568860"/>
            <a:chExt cx="8613777" cy="377663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4A1E381-C6A8-0238-417F-01FC31E76845}"/>
                </a:ext>
              </a:extLst>
            </p:cNvPr>
            <p:cNvSpPr txBox="1"/>
            <p:nvPr/>
          </p:nvSpPr>
          <p:spPr>
            <a:xfrm>
              <a:off x="2695431" y="158370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26.5-38.5</a:t>
              </a:r>
              <a:endParaRPr lang="en-PH" sz="20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1D30BCA-64F6-7B08-259B-67F67DE0E328}"/>
                </a:ext>
              </a:extLst>
            </p:cNvPr>
            <p:cNvSpPr txBox="1"/>
            <p:nvPr/>
          </p:nvSpPr>
          <p:spPr>
            <a:xfrm>
              <a:off x="2705159" y="2104147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38.5-50.5</a:t>
              </a:r>
              <a:endParaRPr lang="en-PH" sz="20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65BA7A-3905-93BF-984C-37D7ACAB8F1E}"/>
                </a:ext>
              </a:extLst>
            </p:cNvPr>
            <p:cNvSpPr txBox="1"/>
            <p:nvPr/>
          </p:nvSpPr>
          <p:spPr>
            <a:xfrm>
              <a:off x="2696618" y="2653604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50.5-62.5</a:t>
              </a:r>
              <a:endParaRPr lang="en-PH" sz="2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3089B1-743F-6160-BCFB-D786D1325A2B}"/>
                </a:ext>
              </a:extLst>
            </p:cNvPr>
            <p:cNvSpPr txBox="1"/>
            <p:nvPr/>
          </p:nvSpPr>
          <p:spPr>
            <a:xfrm>
              <a:off x="2685703" y="319202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62.5-74.5</a:t>
              </a:r>
              <a:endParaRPr lang="en-PH" sz="20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2B8F8E-AECD-08E4-F7F9-D6BB92FB0E00}"/>
                </a:ext>
              </a:extLst>
            </p:cNvPr>
            <p:cNvSpPr txBox="1"/>
            <p:nvPr/>
          </p:nvSpPr>
          <p:spPr>
            <a:xfrm>
              <a:off x="2714887" y="3763221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74.5-86.5</a:t>
              </a:r>
              <a:endParaRPr lang="en-PH" sz="20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5F08B-058A-E2DE-CDE2-BD7D20578A29}"/>
                </a:ext>
              </a:extLst>
            </p:cNvPr>
            <p:cNvSpPr txBox="1"/>
            <p:nvPr/>
          </p:nvSpPr>
          <p:spPr>
            <a:xfrm>
              <a:off x="2705159" y="4286060"/>
              <a:ext cx="1808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86.5-98.5</a:t>
              </a:r>
              <a:endParaRPr lang="en-PH" sz="20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749B69-B890-57B5-0BBB-B100621347D9}"/>
                </a:ext>
              </a:extLst>
            </p:cNvPr>
            <p:cNvSpPr txBox="1"/>
            <p:nvPr/>
          </p:nvSpPr>
          <p:spPr>
            <a:xfrm>
              <a:off x="4630367" y="1581422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32.5</a:t>
              </a:r>
              <a:endParaRPr lang="en-PH" sz="20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4FE952-BCC5-AC36-277C-CE9D3D171627}"/>
                </a:ext>
              </a:extLst>
            </p:cNvPr>
            <p:cNvSpPr txBox="1"/>
            <p:nvPr/>
          </p:nvSpPr>
          <p:spPr>
            <a:xfrm>
              <a:off x="4623201" y="2083956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44.5</a:t>
              </a:r>
              <a:endParaRPr lang="en-PH" sz="20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8FA27F-3F14-47D3-FD12-5E0FE0F4878E}"/>
                </a:ext>
              </a:extLst>
            </p:cNvPr>
            <p:cNvSpPr txBox="1"/>
            <p:nvPr/>
          </p:nvSpPr>
          <p:spPr>
            <a:xfrm>
              <a:off x="4630367" y="2648177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56.5</a:t>
              </a:r>
              <a:endParaRPr lang="en-PH" sz="20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D79037-44E5-0BFB-D691-BCFC9D1FF17F}"/>
                </a:ext>
              </a:extLst>
            </p:cNvPr>
            <p:cNvSpPr txBox="1"/>
            <p:nvPr/>
          </p:nvSpPr>
          <p:spPr>
            <a:xfrm>
              <a:off x="4619452" y="3199080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68.5</a:t>
              </a:r>
              <a:endParaRPr lang="en-PH" sz="20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09DE37-FA20-4592-0581-14252760B1E3}"/>
                </a:ext>
              </a:extLst>
            </p:cNvPr>
            <p:cNvSpPr txBox="1"/>
            <p:nvPr/>
          </p:nvSpPr>
          <p:spPr>
            <a:xfrm>
              <a:off x="4631742" y="3730798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80.5</a:t>
              </a:r>
              <a:endParaRPr lang="en-PH" sz="20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299374-81CB-E4BD-1518-5A33646B5467}"/>
                </a:ext>
              </a:extLst>
            </p:cNvPr>
            <p:cNvSpPr txBox="1"/>
            <p:nvPr/>
          </p:nvSpPr>
          <p:spPr>
            <a:xfrm>
              <a:off x="4648636" y="4285291"/>
              <a:ext cx="972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92.5</a:t>
              </a:r>
              <a:endParaRPr lang="en-PH" sz="20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5C2D3D-0DCF-2BCB-A644-5A533B04AAC3}"/>
                </a:ext>
              </a:extLst>
            </p:cNvPr>
            <p:cNvSpPr txBox="1"/>
            <p:nvPr/>
          </p:nvSpPr>
          <p:spPr>
            <a:xfrm>
              <a:off x="5719866" y="156886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2.27%</a:t>
              </a:r>
              <a:endParaRPr lang="en-PH" sz="20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671AF3-B0F7-B01B-B3D0-8F55A42B3625}"/>
                </a:ext>
              </a:extLst>
            </p:cNvPr>
            <p:cNvSpPr txBox="1"/>
            <p:nvPr/>
          </p:nvSpPr>
          <p:spPr>
            <a:xfrm>
              <a:off x="5727971" y="210472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13.64%</a:t>
              </a:r>
              <a:endParaRPr lang="en-PH" sz="20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C9EDA8-65A2-623B-AB3C-97C28CD7B4F0}"/>
                </a:ext>
              </a:extLst>
            </p:cNvPr>
            <p:cNvSpPr txBox="1"/>
            <p:nvPr/>
          </p:nvSpPr>
          <p:spPr>
            <a:xfrm>
              <a:off x="5718243" y="265134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25.00%</a:t>
              </a:r>
              <a:endParaRPr lang="en-PH" sz="20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05703F-F335-38CF-DC88-42A21E780E3B}"/>
                </a:ext>
              </a:extLst>
            </p:cNvPr>
            <p:cNvSpPr txBox="1"/>
            <p:nvPr/>
          </p:nvSpPr>
          <p:spPr>
            <a:xfrm>
              <a:off x="5737888" y="3185221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38.64%</a:t>
              </a:r>
              <a:endParaRPr lang="en-PH" sz="20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065AD8-CFB8-8FAD-C09E-021A6BBF9376}"/>
                </a:ext>
              </a:extLst>
            </p:cNvPr>
            <p:cNvSpPr txBox="1"/>
            <p:nvPr/>
          </p:nvSpPr>
          <p:spPr>
            <a:xfrm>
              <a:off x="5745993" y="373081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15.91%</a:t>
              </a:r>
              <a:endParaRPr lang="en-PH" sz="20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CABF02-6C79-8C78-3445-F0EC685E5E14}"/>
                </a:ext>
              </a:extLst>
            </p:cNvPr>
            <p:cNvSpPr txBox="1"/>
            <p:nvPr/>
          </p:nvSpPr>
          <p:spPr>
            <a:xfrm>
              <a:off x="5736265" y="4296885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4.54%</a:t>
              </a:r>
              <a:endParaRPr lang="en-PH" sz="20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0403F8-78A5-5131-5FDD-7F6254086CB4}"/>
                </a:ext>
              </a:extLst>
            </p:cNvPr>
            <p:cNvSpPr txBox="1"/>
            <p:nvPr/>
          </p:nvSpPr>
          <p:spPr>
            <a:xfrm>
              <a:off x="7583649" y="156886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</a:t>
              </a:r>
              <a:endParaRPr lang="en-PH" sz="20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5C3964-A101-CE31-060E-D91B97FAB29E}"/>
                </a:ext>
              </a:extLst>
            </p:cNvPr>
            <p:cNvSpPr txBox="1"/>
            <p:nvPr/>
          </p:nvSpPr>
          <p:spPr>
            <a:xfrm>
              <a:off x="7599398" y="210414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7</a:t>
              </a:r>
              <a:endParaRPr lang="en-PH" sz="20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7469C82-A52F-64EA-E3A1-AC17172D17E3}"/>
                </a:ext>
              </a:extLst>
            </p:cNvPr>
            <p:cNvSpPr txBox="1"/>
            <p:nvPr/>
          </p:nvSpPr>
          <p:spPr>
            <a:xfrm>
              <a:off x="7599398" y="2668731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18</a:t>
              </a:r>
              <a:endParaRPr lang="en-PH" sz="20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9BD37D9-8B2E-274D-3743-A96C838E948A}"/>
                </a:ext>
              </a:extLst>
            </p:cNvPr>
            <p:cNvSpPr txBox="1"/>
            <p:nvPr/>
          </p:nvSpPr>
          <p:spPr>
            <a:xfrm>
              <a:off x="7615147" y="3204018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35</a:t>
              </a:r>
              <a:endParaRPr lang="en-PH" sz="20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1FAEF-875F-9D89-9B32-1A4B4777BA14}"/>
                </a:ext>
              </a:extLst>
            </p:cNvPr>
            <p:cNvSpPr txBox="1"/>
            <p:nvPr/>
          </p:nvSpPr>
          <p:spPr>
            <a:xfrm>
              <a:off x="7599398" y="3771800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42</a:t>
              </a:r>
              <a:endParaRPr lang="en-PH" sz="2000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86C745-C07C-BC13-FAA7-42560AAC22F0}"/>
                </a:ext>
              </a:extLst>
            </p:cNvPr>
            <p:cNvSpPr txBox="1"/>
            <p:nvPr/>
          </p:nvSpPr>
          <p:spPr>
            <a:xfrm>
              <a:off x="7615147" y="430708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</a:t>
              </a:r>
              <a:endParaRPr lang="en-PH" sz="20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310BCE-73B7-D577-3503-F21C0EC90E14}"/>
                </a:ext>
              </a:extLst>
            </p:cNvPr>
            <p:cNvSpPr txBox="1"/>
            <p:nvPr/>
          </p:nvSpPr>
          <p:spPr>
            <a:xfrm>
              <a:off x="9585098" y="158831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44</a:t>
              </a:r>
              <a:endParaRPr lang="en-PH" sz="20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16EE46-2319-2B63-AB19-FD8D5EEC3EA6}"/>
                </a:ext>
              </a:extLst>
            </p:cNvPr>
            <p:cNvSpPr txBox="1"/>
            <p:nvPr/>
          </p:nvSpPr>
          <p:spPr>
            <a:xfrm>
              <a:off x="9600847" y="2123603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43</a:t>
              </a:r>
              <a:endParaRPr lang="en-PH" sz="20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E594E2F-E411-DC73-1530-52928DA605B4}"/>
                </a:ext>
              </a:extLst>
            </p:cNvPr>
            <p:cNvSpPr txBox="1"/>
            <p:nvPr/>
          </p:nvSpPr>
          <p:spPr>
            <a:xfrm>
              <a:off x="9600847" y="2688187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37</a:t>
              </a:r>
              <a:endParaRPr lang="en-PH" sz="20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A6E949-1952-DAC1-949E-D3510AD7A420}"/>
                </a:ext>
              </a:extLst>
            </p:cNvPr>
            <p:cNvSpPr txBox="1"/>
            <p:nvPr/>
          </p:nvSpPr>
          <p:spPr>
            <a:xfrm>
              <a:off x="9616596" y="3223474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26</a:t>
              </a:r>
              <a:endParaRPr lang="en-PH" sz="20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ABDE95-C602-A485-6D12-6B4BCB64B8A6}"/>
                </a:ext>
              </a:extLst>
            </p:cNvPr>
            <p:cNvSpPr txBox="1"/>
            <p:nvPr/>
          </p:nvSpPr>
          <p:spPr>
            <a:xfrm>
              <a:off x="9600847" y="3791256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9</a:t>
              </a:r>
              <a:endParaRPr lang="en-PH" sz="20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85A61B-DF57-D236-AF02-BFE3D0C0E812}"/>
                </a:ext>
              </a:extLst>
            </p:cNvPr>
            <p:cNvSpPr txBox="1"/>
            <p:nvPr/>
          </p:nvSpPr>
          <p:spPr>
            <a:xfrm>
              <a:off x="9616596" y="4326543"/>
              <a:ext cx="16828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2</a:t>
              </a:r>
              <a:endParaRPr lang="en-PH" sz="20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5D104E-50AD-37D1-F1F5-21460F19C3FC}"/>
                </a:ext>
              </a:extLst>
            </p:cNvPr>
            <p:cNvSpPr txBox="1"/>
            <p:nvPr/>
          </p:nvSpPr>
          <p:spPr>
            <a:xfrm>
              <a:off x="5707763" y="4822278"/>
              <a:ext cx="1682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chemeClr val="bg1"/>
                  </a:solidFill>
                </a:rPr>
                <a:t>100%</a:t>
              </a:r>
              <a:endParaRPr lang="en-PH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8EAABCF4-5FCD-E6CD-0B45-20A420864D24}"/>
              </a:ext>
            </a:extLst>
          </p:cNvPr>
          <p:cNvSpPr/>
          <p:nvPr/>
        </p:nvSpPr>
        <p:spPr>
          <a:xfrm>
            <a:off x="660542" y="1715423"/>
            <a:ext cx="10846859" cy="482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7EF405D1-2F16-4465-29E1-56E07786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248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034C-DC29-42D9-A969-EA51AC9D6125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24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1026545" y="286347"/>
            <a:ext cx="10209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Class widths may not always be equal esp., 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if extreme values are present in a distribution. </a:t>
            </a:r>
            <a:endParaRPr lang="en-PH" sz="3600" b="1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78021A5-7DCB-DD62-2FF9-F3F5F4E59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626923"/>
              </p:ext>
            </p:extLst>
          </p:nvPr>
        </p:nvGraphicFramePr>
        <p:xfrm>
          <a:off x="3088012" y="1551706"/>
          <a:ext cx="6016233" cy="2921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21101">
                  <a:extLst>
                    <a:ext uri="{9D8B030D-6E8A-4147-A177-3AD203B41FA5}">
                      <a16:colId xmlns:a16="http://schemas.microsoft.com/office/drawing/2014/main" val="138055764"/>
                    </a:ext>
                  </a:extLst>
                </a:gridCol>
                <a:gridCol w="795132">
                  <a:extLst>
                    <a:ext uri="{9D8B030D-6E8A-4147-A177-3AD203B41FA5}">
                      <a16:colId xmlns:a16="http://schemas.microsoft.com/office/drawing/2014/main" val="3065293208"/>
                    </a:ext>
                  </a:extLst>
                </a:gridCol>
              </a:tblGrid>
              <a:tr h="515633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effectLst/>
                        </a:rPr>
                        <a:t>Family Income</a:t>
                      </a:r>
                      <a:endParaRPr lang="en-PH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i="1" dirty="0">
                          <a:effectLst/>
                        </a:rPr>
                        <a:t>f</a:t>
                      </a:r>
                      <a:endParaRPr lang="en-PH" sz="1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298012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Below 500,000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8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09845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500,000 but less than 1,500,000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11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671098"/>
                  </a:ext>
                </a:extLst>
              </a:tr>
              <a:tr h="619075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1,500,000 but less than 2,000,000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20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6106670"/>
                  </a:ext>
                </a:extLst>
              </a:tr>
              <a:tr h="636158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2,000,000 and above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5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8575962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35E713FF-179F-770D-1034-B064F80B86E4}"/>
              </a:ext>
            </a:extLst>
          </p:cNvPr>
          <p:cNvSpPr txBox="1"/>
          <p:nvPr/>
        </p:nvSpPr>
        <p:spPr>
          <a:xfrm>
            <a:off x="3044874" y="4521571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Annual Family Income </a:t>
            </a:r>
            <a:r>
              <a:rPr lang="en-PH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 pesos)</a:t>
            </a:r>
            <a:endParaRPr lang="en-PH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12921F-19CF-235D-32DB-F19C2C02867E}"/>
              </a:ext>
            </a:extLst>
          </p:cNvPr>
          <p:cNvSpPr txBox="1"/>
          <p:nvPr/>
        </p:nvSpPr>
        <p:spPr>
          <a:xfrm>
            <a:off x="715613" y="5205696"/>
            <a:ext cx="109628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PH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The first class interval does not have a lower limit.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PH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The last class interval does not have an upper limit.</a:t>
            </a:r>
            <a:endParaRPr lang="en-PH" sz="3200" b="1" dirty="0"/>
          </a:p>
        </p:txBody>
      </p:sp>
      <p:sp>
        <p:nvSpPr>
          <p:cNvPr id="49" name="Arrow: Notched Right 48">
            <a:extLst>
              <a:ext uri="{FF2B5EF4-FFF2-40B4-BE49-F238E27FC236}">
                <a16:creationId xmlns:a16="http://schemas.microsoft.com/office/drawing/2014/main" id="{C4382EF7-8142-7286-97D1-52E09B398464}"/>
              </a:ext>
            </a:extLst>
          </p:cNvPr>
          <p:cNvSpPr/>
          <p:nvPr/>
        </p:nvSpPr>
        <p:spPr>
          <a:xfrm>
            <a:off x="2529308" y="2173094"/>
            <a:ext cx="515566" cy="35992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Arrow: Notched Right 49">
            <a:extLst>
              <a:ext uri="{FF2B5EF4-FFF2-40B4-BE49-F238E27FC236}">
                <a16:creationId xmlns:a16="http://schemas.microsoft.com/office/drawing/2014/main" id="{D98BDE8C-9723-B83A-841E-9EC93F197566}"/>
              </a:ext>
            </a:extLst>
          </p:cNvPr>
          <p:cNvSpPr/>
          <p:nvPr/>
        </p:nvSpPr>
        <p:spPr>
          <a:xfrm>
            <a:off x="2529308" y="3999765"/>
            <a:ext cx="515566" cy="35992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E3033E-64FD-1DF3-0E81-0A3A53A4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338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EB1A-FD5E-4140-84E1-B1D06F3D36F9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25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39251-BEFC-FA43-8BB0-976A4EA81BB1}"/>
              </a:ext>
            </a:extLst>
          </p:cNvPr>
          <p:cNvSpPr txBox="1"/>
          <p:nvPr/>
        </p:nvSpPr>
        <p:spPr>
          <a:xfrm>
            <a:off x="968178" y="325251"/>
            <a:ext cx="10548928" cy="280076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Qualitative variables or data are easier to put in </a:t>
            </a:r>
            <a:r>
              <a:rPr lang="en-US" sz="3200" b="1" u="sng" dirty="0">
                <a:latin typeface="Arial" panose="020B0604020202020204" pitchFamily="34" charset="0"/>
                <a:ea typeface="Times New Roman" panose="02020603050405020304" pitchFamily="18" charset="0"/>
              </a:rPr>
              <a:t>tabular form</a:t>
            </a:r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 since there is no need to create classes.</a:t>
            </a:r>
          </a:p>
          <a:p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sz="32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A frequency distribution table for data measured in the </a:t>
            </a:r>
            <a:r>
              <a:rPr lang="en-US" sz="3200" b="1" u="sng" dirty="0">
                <a:latin typeface="Arial" panose="020B0604020202020204" pitchFamily="34" charset="0"/>
                <a:ea typeface="Times New Roman" panose="02020603050405020304" pitchFamily="18" charset="0"/>
              </a:rPr>
              <a:t>nominal</a:t>
            </a:r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 or </a:t>
            </a:r>
            <a:r>
              <a:rPr lang="en-US" sz="3200" b="1" u="sng" dirty="0">
                <a:latin typeface="Arial" panose="020B0604020202020204" pitchFamily="34" charset="0"/>
                <a:ea typeface="Times New Roman" panose="02020603050405020304" pitchFamily="18" charset="0"/>
              </a:rPr>
              <a:t>ordinal</a:t>
            </a:r>
            <a:r>
              <a:rPr lang="en-US" sz="3200" b="1" dirty="0">
                <a:latin typeface="Arial" panose="020B0604020202020204" pitchFamily="34" charset="0"/>
                <a:ea typeface="Times New Roman" panose="02020603050405020304" pitchFamily="18" charset="0"/>
              </a:rPr>
              <a:t> scale, simply lists all categories with their corresponding frequencies.</a:t>
            </a:r>
            <a:endParaRPr lang="en-PH" sz="36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34A0F9-F5FC-E251-F646-7DC3521DD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177159"/>
              </p:ext>
            </p:extLst>
          </p:nvPr>
        </p:nvGraphicFramePr>
        <p:xfrm>
          <a:off x="6489876" y="3392488"/>
          <a:ext cx="4184889" cy="2921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89757">
                  <a:extLst>
                    <a:ext uri="{9D8B030D-6E8A-4147-A177-3AD203B41FA5}">
                      <a16:colId xmlns:a16="http://schemas.microsoft.com/office/drawing/2014/main" val="138055764"/>
                    </a:ext>
                  </a:extLst>
                </a:gridCol>
                <a:gridCol w="795132">
                  <a:extLst>
                    <a:ext uri="{9D8B030D-6E8A-4147-A177-3AD203B41FA5}">
                      <a16:colId xmlns:a16="http://schemas.microsoft.com/office/drawing/2014/main" val="3065293208"/>
                    </a:ext>
                  </a:extLst>
                </a:gridCol>
              </a:tblGrid>
              <a:tr h="515633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effectLst/>
                        </a:rPr>
                        <a:t>Degree of Agreement</a:t>
                      </a:r>
                      <a:endParaRPr lang="en-PH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i="1" dirty="0">
                          <a:effectLst/>
                        </a:rPr>
                        <a:t>f</a:t>
                      </a:r>
                      <a:endParaRPr lang="en-PH" sz="1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298012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Strongly Disagree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13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09845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Disagree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31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671098"/>
                  </a:ext>
                </a:extLst>
              </a:tr>
              <a:tr h="619075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Agree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40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6106670"/>
                  </a:ext>
                </a:extLst>
              </a:tr>
              <a:tr h="636158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Strongly Agree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7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85759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CA7E48-4CC4-80B2-0DBB-6BD5E6BFF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41725"/>
              </p:ext>
            </p:extLst>
          </p:nvPr>
        </p:nvGraphicFramePr>
        <p:xfrm>
          <a:off x="1460673" y="3406947"/>
          <a:ext cx="4241453" cy="22070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0854">
                  <a:extLst>
                    <a:ext uri="{9D8B030D-6E8A-4147-A177-3AD203B41FA5}">
                      <a16:colId xmlns:a16="http://schemas.microsoft.com/office/drawing/2014/main" val="138055764"/>
                    </a:ext>
                  </a:extLst>
                </a:gridCol>
                <a:gridCol w="960599">
                  <a:extLst>
                    <a:ext uri="{9D8B030D-6E8A-4147-A177-3AD203B41FA5}">
                      <a16:colId xmlns:a16="http://schemas.microsoft.com/office/drawing/2014/main" val="3065293208"/>
                    </a:ext>
                  </a:extLst>
                </a:gridCol>
              </a:tblGrid>
              <a:tr h="783144">
                <a:tc>
                  <a:txBody>
                    <a:bodyPr/>
                    <a:lstStyle/>
                    <a:p>
                      <a:pPr algn="ctr"/>
                      <a:r>
                        <a:rPr lang="en-PH" sz="2800" dirty="0">
                          <a:effectLst/>
                        </a:rPr>
                        <a:t>JBC Stores </a:t>
                      </a:r>
                      <a:r>
                        <a:rPr lang="en-PH" sz="2400" dirty="0">
                          <a:effectLst/>
                        </a:rPr>
                        <a:t>(as of 2019)</a:t>
                      </a:r>
                      <a:endParaRPr lang="en-PH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i="1" dirty="0">
                          <a:effectLst/>
                        </a:rPr>
                        <a:t>f</a:t>
                      </a:r>
                      <a:endParaRPr lang="en-PH" sz="1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298012"/>
                  </a:ext>
                </a:extLst>
              </a:tr>
              <a:tr h="747740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Philippines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1,150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09845"/>
                  </a:ext>
                </a:extLst>
              </a:tr>
              <a:tr h="676201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  <a:effectLst/>
                        </a:rPr>
                        <a:t>Abroad</a:t>
                      </a:r>
                      <a:endParaRPr lang="en-PH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800" b="1" dirty="0">
                          <a:effectLst/>
                        </a:rPr>
                        <a:t>234</a:t>
                      </a:r>
                      <a:endParaRPr lang="en-PH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67109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D607-1835-428A-8741-3A1C37773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294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3A3A2-A85A-4F80-A20B-81C3775E51B8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26</a:t>
            </a:fld>
            <a:endParaRPr lang="en-PH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A954271-3F30-7102-8AD3-4736A933A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06" y="901208"/>
            <a:ext cx="9844392" cy="18158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       M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F       M       F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      F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      F       M      F       M       F       M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F       M    F       M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F       M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F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M      F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      F  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      F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      </a:t>
            </a:r>
            <a:r>
              <a:rPr kumimoji="0" lang="en-PH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PH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35B9E-19BB-370C-A34E-C6F40C2E6FAD}"/>
              </a:ext>
            </a:extLst>
          </p:cNvPr>
          <p:cNvSpPr txBox="1"/>
          <p:nvPr/>
        </p:nvSpPr>
        <p:spPr>
          <a:xfrm>
            <a:off x="96600" y="2838741"/>
            <a:ext cx="11994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>
                <a:latin typeface="Arial" panose="020B0604020202020204" pitchFamily="34" charset="0"/>
                <a:ea typeface="Times New Roman" panose="02020603050405020304" pitchFamily="18" charset="0"/>
              </a:rPr>
              <a:t>Gender of 44 Students</a:t>
            </a:r>
            <a:endParaRPr lang="en-PH" sz="2800" b="1" dirty="0"/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918B0103-94F2-E2A7-B736-F229FDBD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419100"/>
              </p:ext>
            </p:extLst>
          </p:nvPr>
        </p:nvGraphicFramePr>
        <p:xfrm>
          <a:off x="4319916" y="3899035"/>
          <a:ext cx="354757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430">
                  <a:extLst>
                    <a:ext uri="{9D8B030D-6E8A-4147-A177-3AD203B41FA5}">
                      <a16:colId xmlns:a16="http://schemas.microsoft.com/office/drawing/2014/main" val="2907867004"/>
                    </a:ext>
                  </a:extLst>
                </a:gridCol>
                <a:gridCol w="1630141">
                  <a:extLst>
                    <a:ext uri="{9D8B030D-6E8A-4147-A177-3AD203B41FA5}">
                      <a16:colId xmlns:a16="http://schemas.microsoft.com/office/drawing/2014/main" val="3810116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Gender</a:t>
                      </a:r>
                      <a:endParaRPr lang="en-PH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1" dirty="0"/>
                        <a:t>f</a:t>
                      </a:r>
                      <a:endParaRPr lang="en-PH" sz="36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48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/>
                        <a:t>Female</a:t>
                      </a:r>
                      <a:endParaRPr lang="en-PH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9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/>
                        <a:t>Male</a:t>
                      </a:r>
                      <a:endParaRPr lang="en-PH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9502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AA81CEC-B2CB-7582-1378-C3426F005CC5}"/>
              </a:ext>
            </a:extLst>
          </p:cNvPr>
          <p:cNvSpPr txBox="1"/>
          <p:nvPr/>
        </p:nvSpPr>
        <p:spPr>
          <a:xfrm>
            <a:off x="6496379" y="4493055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21</a:t>
            </a:r>
            <a:endParaRPr lang="en-PH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08BF36-A1F0-A167-154F-F77B1C95134E}"/>
              </a:ext>
            </a:extLst>
          </p:cNvPr>
          <p:cNvSpPr txBox="1"/>
          <p:nvPr/>
        </p:nvSpPr>
        <p:spPr>
          <a:xfrm>
            <a:off x="6496378" y="5156165"/>
            <a:ext cx="112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23</a:t>
            </a:r>
            <a:endParaRPr lang="en-PH" sz="28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8FF390-A632-7535-1A91-C3F68C4B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198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4D3F0D-E8A3-6274-6F09-6259F398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BD9A6-1CBB-4BFB-B91F-B92EE87E40F5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BA024-BC05-9B5D-0EA4-D2B628FA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27</a:t>
            </a:fld>
            <a:endParaRPr lang="en-PH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A954271-3F30-7102-8AD3-4736A933A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96" y="477078"/>
            <a:ext cx="7265504" cy="489364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PH" sz="2400" b="1" dirty="0"/>
              <a:t>Abroad       Government       Private Company       Abroad</a:t>
            </a:r>
          </a:p>
          <a:p>
            <a:r>
              <a:rPr lang="en-PH" sz="2400" b="1" dirty="0"/>
              <a:t>Self-Employed          Private Company           Abroad</a:t>
            </a:r>
          </a:p>
          <a:p>
            <a:r>
              <a:rPr lang="en-PH" sz="2400" b="1" dirty="0"/>
              <a:t>Private Company           Abroad            Private Company Government         Abroad           </a:t>
            </a:r>
            <a:r>
              <a:rPr lang="en-PH" sz="2400" b="1" dirty="0" err="1"/>
              <a:t>Abroad</a:t>
            </a:r>
            <a:r>
              <a:rPr lang="en-PH" sz="2400" b="1" dirty="0"/>
              <a:t>         Government</a:t>
            </a:r>
          </a:p>
          <a:p>
            <a:r>
              <a:rPr lang="en-PH" sz="2400" b="1" dirty="0"/>
              <a:t>Private Company        Private Company       Government</a:t>
            </a:r>
          </a:p>
          <a:p>
            <a:r>
              <a:rPr lang="en-PH" sz="2400" b="1" dirty="0"/>
              <a:t>Abroad         </a:t>
            </a:r>
            <a:r>
              <a:rPr lang="en-PH" sz="2400" b="1" dirty="0" err="1"/>
              <a:t>Abroad</a:t>
            </a:r>
            <a:r>
              <a:rPr lang="en-PH" sz="2400" b="1" dirty="0"/>
              <a:t>         </a:t>
            </a:r>
            <a:r>
              <a:rPr lang="en-PH" sz="2400" b="1" dirty="0" err="1"/>
              <a:t>Abroad</a:t>
            </a:r>
            <a:r>
              <a:rPr lang="en-PH" sz="2400" b="1" dirty="0"/>
              <a:t>            Private Company       Abroad        Government       Self-Employed         Abroad  Government        Abroad          </a:t>
            </a:r>
            <a:r>
              <a:rPr lang="en-PH" sz="2400" b="1" dirty="0" err="1"/>
              <a:t>Abroad</a:t>
            </a:r>
            <a:r>
              <a:rPr lang="en-PH" sz="2400" b="1" dirty="0"/>
              <a:t>          Government </a:t>
            </a:r>
          </a:p>
          <a:p>
            <a:r>
              <a:rPr lang="en-PH" sz="2400" b="1" dirty="0"/>
              <a:t>Private Company       Self-Employed       Private Company       Abroad         </a:t>
            </a:r>
            <a:r>
              <a:rPr lang="en-PH" sz="2400" b="1" dirty="0" err="1"/>
              <a:t>Abroad</a:t>
            </a:r>
            <a:r>
              <a:rPr lang="en-PH" sz="2400" b="1" dirty="0"/>
              <a:t>         Private Company          Abroad</a:t>
            </a:r>
          </a:p>
          <a:p>
            <a:r>
              <a:rPr lang="en-PH" sz="2400" b="1" dirty="0"/>
              <a:t>Private Company       Self-Employed       Private Company </a:t>
            </a:r>
          </a:p>
          <a:p>
            <a:r>
              <a:rPr lang="en-PH" sz="2400" b="1" dirty="0"/>
              <a:t>Private Company         Abroad         Private Company       Abroad         Private Company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35B9E-19BB-370C-A34E-C6F40C2E6FAD}"/>
              </a:ext>
            </a:extLst>
          </p:cNvPr>
          <p:cNvSpPr txBox="1"/>
          <p:nvPr/>
        </p:nvSpPr>
        <p:spPr>
          <a:xfrm>
            <a:off x="838200" y="5410875"/>
            <a:ext cx="6576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b="1" dirty="0">
                <a:latin typeface="Arial" panose="020B0604020202020204" pitchFamily="34" charset="0"/>
                <a:ea typeface="Times New Roman" panose="02020603050405020304" pitchFamily="18" charset="0"/>
              </a:rPr>
              <a:t>Desired Workplace after Graduation</a:t>
            </a:r>
            <a:endParaRPr lang="en-PH" sz="2800" b="1" dirty="0"/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918B0103-94F2-E2A7-B736-F229FDBD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523415"/>
              </p:ext>
            </p:extLst>
          </p:nvPr>
        </p:nvGraphicFramePr>
        <p:xfrm>
          <a:off x="7907683" y="1771140"/>
          <a:ext cx="3930372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821">
                  <a:extLst>
                    <a:ext uri="{9D8B030D-6E8A-4147-A177-3AD203B41FA5}">
                      <a16:colId xmlns:a16="http://schemas.microsoft.com/office/drawing/2014/main" val="2907867004"/>
                    </a:ext>
                  </a:extLst>
                </a:gridCol>
                <a:gridCol w="794551">
                  <a:extLst>
                    <a:ext uri="{9D8B030D-6E8A-4147-A177-3AD203B41FA5}">
                      <a16:colId xmlns:a16="http://schemas.microsoft.com/office/drawing/2014/main" val="3810116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Workplace</a:t>
                      </a:r>
                      <a:endParaRPr lang="en-PH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1" dirty="0"/>
                        <a:t>f</a:t>
                      </a:r>
                      <a:endParaRPr lang="en-PH" sz="3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48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/>
                        <a:t>Abroad</a:t>
                      </a:r>
                      <a:endParaRPr lang="en-PH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9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/>
                        <a:t>Government</a:t>
                      </a:r>
                      <a:endParaRPr lang="en-PH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95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/>
                        <a:t>Private Company</a:t>
                      </a:r>
                      <a:endParaRPr lang="en-PH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84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/>
                        <a:t>Self-employed</a:t>
                      </a:r>
                      <a:endParaRPr lang="en-PH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51504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AA81CEC-B2CB-7582-1378-C3426F005CC5}"/>
              </a:ext>
            </a:extLst>
          </p:cNvPr>
          <p:cNvSpPr txBox="1"/>
          <p:nvPr/>
        </p:nvSpPr>
        <p:spPr>
          <a:xfrm>
            <a:off x="10893028" y="2343912"/>
            <a:ext cx="112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18</a:t>
            </a:r>
            <a:endParaRPr lang="en-PH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08BF36-A1F0-A167-154F-F77B1C95134E}"/>
              </a:ext>
            </a:extLst>
          </p:cNvPr>
          <p:cNvSpPr txBox="1"/>
          <p:nvPr/>
        </p:nvSpPr>
        <p:spPr>
          <a:xfrm>
            <a:off x="10893028" y="2916684"/>
            <a:ext cx="112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7</a:t>
            </a:r>
            <a:endParaRPr lang="en-PH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BDFA6-95C7-A5FA-DE5F-A88C9B39FD10}"/>
              </a:ext>
            </a:extLst>
          </p:cNvPr>
          <p:cNvSpPr txBox="1"/>
          <p:nvPr/>
        </p:nvSpPr>
        <p:spPr>
          <a:xfrm>
            <a:off x="10893027" y="3531586"/>
            <a:ext cx="112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15</a:t>
            </a:r>
            <a:endParaRPr lang="en-PH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48ABB-AD06-8A9C-DBC9-AEC7541F903E}"/>
              </a:ext>
            </a:extLst>
          </p:cNvPr>
          <p:cNvSpPr txBox="1"/>
          <p:nvPr/>
        </p:nvSpPr>
        <p:spPr>
          <a:xfrm>
            <a:off x="10893026" y="4097028"/>
            <a:ext cx="112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  <a:endParaRPr lang="en-PH" sz="20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4A0E43-2A57-6B7C-128F-82CEC34E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085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15" grpId="0"/>
      <p:bldP spid="3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D697-800D-B1FA-18F7-85406C6B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D75080-8B7D-332C-4FB9-8B76F1B6E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2A15154-4BB6-A482-40F9-3D8267DB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4CB2D0C-ECCF-41C1-82E8-B7E07460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94719-A2A3-4034-A3CB-6B131F2B8C7B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87E7DD-65B3-4605-AF3B-E3F1BEE2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28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DF570-AD37-D392-9A6D-C5D83283716B}"/>
              </a:ext>
            </a:extLst>
          </p:cNvPr>
          <p:cNvSpPr txBox="1"/>
          <p:nvPr/>
        </p:nvSpPr>
        <p:spPr>
          <a:xfrm>
            <a:off x="1816016" y="753896"/>
            <a:ext cx="8555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Generating a Frequency Distribution with Nominal Data in Excel</a:t>
            </a:r>
            <a:endParaRPr lang="en-PH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25767-9E3C-6664-A22F-107CDAE28D61}"/>
              </a:ext>
            </a:extLst>
          </p:cNvPr>
          <p:cNvSpPr txBox="1"/>
          <p:nvPr/>
        </p:nvSpPr>
        <p:spPr>
          <a:xfrm>
            <a:off x="752675" y="2573766"/>
            <a:ext cx="107103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1) Enter the raw data in one column and name it “Raw Data”.</a:t>
            </a:r>
          </a:p>
          <a:p>
            <a:r>
              <a:rPr lang="en-US" sz="2600" b="1" dirty="0"/>
              <a:t>2) Name a second column “Gender” and under it type “Male” and “Female”.</a:t>
            </a:r>
          </a:p>
          <a:p>
            <a:r>
              <a:rPr lang="en-US" sz="2600" b="1" dirty="0"/>
              <a:t>3) Name a third column “ </a:t>
            </a:r>
            <a:r>
              <a:rPr lang="en-US" sz="2600" b="1" i="1" dirty="0"/>
              <a:t>f</a:t>
            </a:r>
            <a:r>
              <a:rPr lang="en-US" sz="2600" b="1" dirty="0"/>
              <a:t> ” for frequency. </a:t>
            </a:r>
          </a:p>
          <a:p>
            <a:r>
              <a:rPr lang="en-US" sz="2600" b="1" dirty="0"/>
              <a:t>4) Under the frequency column in the row of the “Female”, </a:t>
            </a:r>
          </a:p>
          <a:p>
            <a:r>
              <a:rPr lang="en-US" sz="2600" b="1" dirty="0"/>
              <a:t>     type =COUNTIF(</a:t>
            </a:r>
            <a:r>
              <a:rPr lang="en-US" sz="2600" b="1" dirty="0" err="1"/>
              <a:t>data_array,“F</a:t>
            </a:r>
            <a:r>
              <a:rPr lang="en-US" sz="2600" b="1" dirty="0"/>
              <a:t>”) and then press ENTER.</a:t>
            </a:r>
          </a:p>
          <a:p>
            <a:r>
              <a:rPr lang="en-US" sz="2600" b="1" dirty="0"/>
              <a:t>       </a:t>
            </a:r>
            <a:r>
              <a:rPr lang="en-US" sz="2600" dirty="0"/>
              <a:t>Note: </a:t>
            </a:r>
            <a:r>
              <a:rPr lang="en-US" sz="2600" dirty="0" err="1"/>
              <a:t>data_array</a:t>
            </a:r>
            <a:r>
              <a:rPr lang="en-US" sz="2600" dirty="0"/>
              <a:t> is the highlighted Raw Data (except the column name)</a:t>
            </a:r>
          </a:p>
          <a:p>
            <a:r>
              <a:rPr lang="en-US" sz="2600" b="1" dirty="0"/>
              <a:t>5) Under the frequency column in the row of the “Male”, </a:t>
            </a:r>
          </a:p>
          <a:p>
            <a:r>
              <a:rPr lang="en-US" sz="2600" b="1" dirty="0"/>
              <a:t>     type =COUNTIF(</a:t>
            </a:r>
            <a:r>
              <a:rPr lang="en-US" sz="2600" b="1" dirty="0" err="1"/>
              <a:t>data_array,“M</a:t>
            </a:r>
            <a:r>
              <a:rPr lang="en-US" sz="2600" b="1" dirty="0"/>
              <a:t>”) and then press ENTER.</a:t>
            </a:r>
          </a:p>
          <a:p>
            <a:r>
              <a:rPr lang="en-US" sz="2600" b="1" dirty="0"/>
              <a:t>       </a:t>
            </a:r>
            <a:r>
              <a:rPr lang="en-US" sz="2600" dirty="0"/>
              <a:t>Note: </a:t>
            </a:r>
            <a:r>
              <a:rPr lang="en-US" sz="2600" dirty="0" err="1"/>
              <a:t>data_array</a:t>
            </a:r>
            <a:r>
              <a:rPr lang="en-US" sz="2600" dirty="0"/>
              <a:t> is the highlighted Raw Data (except the column name)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E62CE3-BA43-6068-B5BD-60AA3B96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953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FB68-314D-941C-B3F4-11422601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D0C81A-1658-09BD-CEA2-D127927B7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06AC8C9-6FF2-02FC-5CBB-536D79514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2A2999-DF3D-DF80-7CA6-09ED9944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BEC-9344-4720-9AC7-4CD9CC050230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D85222-7556-17B8-7A61-322C490B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29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AA49E-876E-ECBA-B7A9-EE53A7FAEE8F}"/>
              </a:ext>
            </a:extLst>
          </p:cNvPr>
          <p:cNvSpPr txBox="1"/>
          <p:nvPr/>
        </p:nvSpPr>
        <p:spPr>
          <a:xfrm>
            <a:off x="0" y="1331516"/>
            <a:ext cx="1219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ea typeface="Times New Roman" panose="02020603050405020304" pitchFamily="18" charset="0"/>
              </a:rPr>
              <a:t>Other Kinds of Tables</a:t>
            </a:r>
          </a:p>
          <a:p>
            <a:endParaRPr lang="en-PH" sz="5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3EC20A-4D6D-D17A-E94B-5BD1B233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819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2749-DF61-0CFB-09BF-CB4B346E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F3F8A87-1FE7-22DB-05FF-A845F00B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7C91D16-18E0-7D68-0345-26C9EAB8A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AB844B-4C58-0B5F-1A00-1B972494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BEC-9344-4720-9AC7-4CD9CC050230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52DDEB-28FD-1E83-0D07-57189A1D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30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2EBB6-2A4E-D558-BF54-3F0D75DA57B3}"/>
              </a:ext>
            </a:extLst>
          </p:cNvPr>
          <p:cNvSpPr txBox="1"/>
          <p:nvPr/>
        </p:nvSpPr>
        <p:spPr>
          <a:xfrm>
            <a:off x="546651" y="800497"/>
            <a:ext cx="5549349" cy="28623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PH" sz="3600" b="1" dirty="0"/>
              <a:t>Cross-sectional Data Table</a:t>
            </a:r>
          </a:p>
          <a:p>
            <a:r>
              <a:rPr lang="en-PH" sz="3600" dirty="0"/>
              <a:t>- consists of information about different elements of a population or sample for the </a:t>
            </a:r>
            <a:r>
              <a:rPr lang="en-PH" sz="3600" u="sng" dirty="0"/>
              <a:t>same period of time</a:t>
            </a:r>
            <a:r>
              <a:rPr lang="en-PH" sz="3600" dirty="0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8334D6-F98E-E09B-00C5-69A9A6758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459812"/>
              </p:ext>
            </p:extLst>
          </p:nvPr>
        </p:nvGraphicFramePr>
        <p:xfrm>
          <a:off x="6093702" y="283060"/>
          <a:ext cx="5518646" cy="5611625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3433106">
                  <a:extLst>
                    <a:ext uri="{9D8B030D-6E8A-4147-A177-3AD203B41FA5}">
                      <a16:colId xmlns:a16="http://schemas.microsoft.com/office/drawing/2014/main" val="138055764"/>
                    </a:ext>
                  </a:extLst>
                </a:gridCol>
                <a:gridCol w="2085540">
                  <a:extLst>
                    <a:ext uri="{9D8B030D-6E8A-4147-A177-3AD203B41FA5}">
                      <a16:colId xmlns:a16="http://schemas.microsoft.com/office/drawing/2014/main" val="3065293208"/>
                    </a:ext>
                  </a:extLst>
                </a:gridCol>
              </a:tblGrid>
              <a:tr h="46389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Gas Company</a:t>
                      </a:r>
                      <a:endParaRPr lang="en-PH" sz="18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P</a:t>
                      </a:r>
                      <a:r>
                        <a:rPr lang="en-PH" sz="2800" dirty="0">
                          <a:effectLst/>
                        </a:rPr>
                        <a:t>rice </a:t>
                      </a:r>
                      <a:r>
                        <a:rPr lang="en-PH" sz="2400" dirty="0">
                          <a:effectLst/>
                        </a:rPr>
                        <a:t>(in peso)</a:t>
                      </a:r>
                      <a:endParaRPr lang="en-PH" sz="1600" i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298012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Flying V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74.19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6886694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Petro </a:t>
                      </a:r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Gazz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74.25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1524823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Petron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74.</a:t>
                      </a:r>
                      <a:r>
                        <a:rPr lang="en-PH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40</a:t>
                      </a:r>
                      <a:endParaRPr lang="en-US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8487288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Phoenix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73.25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8146366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chemeClr val="tx1"/>
                          </a:solidFill>
                          <a:effectLst/>
                        </a:rPr>
                        <a:t>Seaoil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73.65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09845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Unioil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72.80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561807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Caltex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76.95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153120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PTT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75.25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671098"/>
                  </a:ext>
                </a:extLst>
              </a:tr>
              <a:tr h="61907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Shell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76.52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6106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069934-E0DE-1A61-A38D-AB705FF7EAC4}"/>
              </a:ext>
            </a:extLst>
          </p:cNvPr>
          <p:cNvSpPr txBox="1"/>
          <p:nvPr/>
        </p:nvSpPr>
        <p:spPr>
          <a:xfrm>
            <a:off x="5516444" y="5894685"/>
            <a:ext cx="6673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Gasoline Price per Liter as of January 2024</a:t>
            </a:r>
            <a:endParaRPr lang="en-PH" sz="20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3DDA35-D9F2-6FE7-41F6-8774EAAD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056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611A-99EC-5DAC-1A7D-7D5EBC82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E51615-67B0-E73D-691C-3B677B34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9A76F77-4BFE-F357-84CF-B421EDA37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D45F3C0-CBC5-AEBC-830C-3D4569C5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BEC-9344-4720-9AC7-4CD9CC050230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F9CA09-58C3-AF4F-CB5D-8F45C710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31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A4364-0026-754A-AAAE-37360CFA1F4A}"/>
              </a:ext>
            </a:extLst>
          </p:cNvPr>
          <p:cNvSpPr txBox="1"/>
          <p:nvPr/>
        </p:nvSpPr>
        <p:spPr>
          <a:xfrm>
            <a:off x="546651" y="800497"/>
            <a:ext cx="6806256" cy="23083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PH" sz="3600" b="1" dirty="0"/>
              <a:t>Time Series Data Table</a:t>
            </a:r>
          </a:p>
          <a:p>
            <a:r>
              <a:rPr lang="en-PH" sz="3600" dirty="0"/>
              <a:t>- contains information on the same variable for the same element at </a:t>
            </a:r>
            <a:r>
              <a:rPr lang="en-PH" sz="3600" u="sng" dirty="0"/>
              <a:t>different periods of time</a:t>
            </a:r>
            <a:r>
              <a:rPr lang="en-PH" sz="3600" dirty="0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B3A5A3-B5D2-3E54-3895-3F7DAC559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15832"/>
              </p:ext>
            </p:extLst>
          </p:nvPr>
        </p:nvGraphicFramePr>
        <p:xfrm>
          <a:off x="7352907" y="933726"/>
          <a:ext cx="3027563" cy="377005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942023">
                  <a:extLst>
                    <a:ext uri="{9D8B030D-6E8A-4147-A177-3AD203B41FA5}">
                      <a16:colId xmlns:a16="http://schemas.microsoft.com/office/drawing/2014/main" val="138055764"/>
                    </a:ext>
                  </a:extLst>
                </a:gridCol>
                <a:gridCol w="2085540">
                  <a:extLst>
                    <a:ext uri="{9D8B030D-6E8A-4147-A177-3AD203B41FA5}">
                      <a16:colId xmlns:a16="http://schemas.microsoft.com/office/drawing/2014/main" val="3065293208"/>
                    </a:ext>
                  </a:extLst>
                </a:gridCol>
              </a:tblGrid>
              <a:tr h="46389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Year</a:t>
                      </a:r>
                      <a:endParaRPr lang="en-PH" sz="18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P</a:t>
                      </a:r>
                      <a:r>
                        <a:rPr lang="en-PH" sz="2800" dirty="0">
                          <a:effectLst/>
                        </a:rPr>
                        <a:t>rice </a:t>
                      </a:r>
                      <a:r>
                        <a:rPr lang="en-PH" sz="2400" dirty="0">
                          <a:effectLst/>
                        </a:rPr>
                        <a:t>(in peso)</a:t>
                      </a:r>
                      <a:endParaRPr lang="en-PH" sz="1600" i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7298012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2018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45.54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6886694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2019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50.40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1524823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2020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58.20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8487288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2021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60.69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8146366"/>
                  </a:ext>
                </a:extLst>
              </a:tr>
              <a:tr h="53898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2022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73.97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09845"/>
                  </a:ext>
                </a:extLst>
              </a:tr>
              <a:tr h="61124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2023</a:t>
                      </a:r>
                      <a:endParaRPr lang="en-PH" sz="28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69.13</a:t>
                      </a:r>
                      <a:endParaRPr lang="en-PH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5618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62930B-8507-17D0-8C45-978FD3CDB3D0}"/>
              </a:ext>
            </a:extLst>
          </p:cNvPr>
          <p:cNvSpPr txBox="1"/>
          <p:nvPr/>
        </p:nvSpPr>
        <p:spPr>
          <a:xfrm>
            <a:off x="5530107" y="4793842"/>
            <a:ext cx="66731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Average Gasoline Price per Liter</a:t>
            </a:r>
            <a:endParaRPr lang="en-PH" sz="20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AF18D8-3513-2CA3-422E-006D2FF1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966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BA80-3E49-9598-9C6E-19595A66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6041AE-1269-8950-38F6-156C3166F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4018AB-2266-876E-6284-36E26129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6B0125-188B-E75C-1305-DEC5AB5B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BEC-9344-4720-9AC7-4CD9CC050230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51E5F5-CEAF-8D3D-1F19-E6A21CE0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32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5859B-6A0C-6E3A-7764-CDE6AC2B528B}"/>
              </a:ext>
            </a:extLst>
          </p:cNvPr>
          <p:cNvSpPr txBox="1"/>
          <p:nvPr/>
        </p:nvSpPr>
        <p:spPr>
          <a:xfrm>
            <a:off x="2384417" y="557821"/>
            <a:ext cx="7440900" cy="23083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3600" b="1" dirty="0"/>
              <a:t>Contingency Table</a:t>
            </a:r>
          </a:p>
          <a:p>
            <a:pPr algn="ctr"/>
            <a:r>
              <a:rPr lang="en-PH" sz="3600" dirty="0"/>
              <a:t>- </a:t>
            </a:r>
            <a:r>
              <a:rPr lang="en-US" sz="3600" dirty="0"/>
              <a:t>a type of table in a matrix format that displays the multivariate frequency distribution of several variables</a:t>
            </a:r>
            <a:r>
              <a:rPr lang="en-PH" sz="3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240AE-9E38-6FBF-8E5A-AA9E858EABB0}"/>
              </a:ext>
            </a:extLst>
          </p:cNvPr>
          <p:cNvSpPr txBox="1"/>
          <p:nvPr/>
        </p:nvSpPr>
        <p:spPr>
          <a:xfrm>
            <a:off x="3292294" y="5604279"/>
            <a:ext cx="5587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Handedness by Sex</a:t>
            </a:r>
            <a:endParaRPr lang="en-PH" sz="20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26906F-21B0-37C6-F8D7-5DD681F9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3D92D-CFA1-64C5-37C3-226675BA6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50683"/>
              </p:ext>
            </p:extLst>
          </p:nvPr>
        </p:nvGraphicFramePr>
        <p:xfrm>
          <a:off x="3226305" y="3156952"/>
          <a:ext cx="5720564" cy="2303401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2749575">
                  <a:extLst>
                    <a:ext uri="{9D8B030D-6E8A-4147-A177-3AD203B41FA5}">
                      <a16:colId xmlns:a16="http://schemas.microsoft.com/office/drawing/2014/main" val="3774893641"/>
                    </a:ext>
                  </a:extLst>
                </a:gridCol>
                <a:gridCol w="984758">
                  <a:extLst>
                    <a:ext uri="{9D8B030D-6E8A-4147-A177-3AD203B41FA5}">
                      <a16:colId xmlns:a16="http://schemas.microsoft.com/office/drawing/2014/main" val="1332502156"/>
                    </a:ext>
                  </a:extLst>
                </a:gridCol>
                <a:gridCol w="782257">
                  <a:extLst>
                    <a:ext uri="{9D8B030D-6E8A-4147-A177-3AD203B41FA5}">
                      <a16:colId xmlns:a16="http://schemas.microsoft.com/office/drawing/2014/main" val="4012156958"/>
                    </a:ext>
                  </a:extLst>
                </a:gridCol>
                <a:gridCol w="1203974">
                  <a:extLst>
                    <a:ext uri="{9D8B030D-6E8A-4147-A177-3AD203B41FA5}">
                      <a16:colId xmlns:a16="http://schemas.microsoft.com/office/drawing/2014/main" val="4141030043"/>
                    </a:ext>
                  </a:extLst>
                </a:gridCol>
              </a:tblGrid>
              <a:tr h="837603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800" b="1" dirty="0">
                          <a:effectLst/>
                        </a:rPr>
                        <a:t>Handedness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800" b="0" dirty="0">
                          <a:solidFill>
                            <a:schemeClr val="tx1"/>
                          </a:solidFill>
                          <a:effectLst/>
                        </a:rPr>
                        <a:t>Sex</a:t>
                      </a:r>
                      <a:r>
                        <a:rPr lang="en-PH" sz="2800" b="0" dirty="0">
                          <a:effectLst/>
                        </a:rPr>
                        <a:t>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Right</a:t>
                      </a:r>
                      <a:endParaRPr lang="en-PH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Left</a:t>
                      </a:r>
                      <a:endParaRPr lang="en-PH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52571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800" b="0" dirty="0">
                          <a:effectLst/>
                        </a:rPr>
                        <a:t>Female</a:t>
                      </a:r>
                      <a:endParaRPr lang="en-PH" sz="2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PH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PH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55032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800" b="0" dirty="0">
                          <a:effectLst/>
                        </a:rPr>
                        <a:t>Male</a:t>
                      </a:r>
                      <a:endParaRPr lang="en-PH" sz="2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PH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H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92561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solidFill>
                            <a:srgbClr val="000099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PH" sz="2800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5213504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20F020-6E72-2374-3453-8A38669AB098}"/>
              </a:ext>
            </a:extLst>
          </p:cNvPr>
          <p:cNvCxnSpPr>
            <a:cxnSpLocks/>
          </p:cNvCxnSpPr>
          <p:nvPr/>
        </p:nvCxnSpPr>
        <p:spPr>
          <a:xfrm>
            <a:off x="3311148" y="3432204"/>
            <a:ext cx="2375554" cy="6598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24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49BF-121B-183A-B990-701FC2BC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44DCB7-B7BB-7C71-BCB0-D06BED765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7D59E27-8B21-B359-904D-9A8A7879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D872D4F-CA57-0E25-E8B0-EEB017CC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BEC-9344-4720-9AC7-4CD9CC050230}" type="datetime1">
              <a:rPr lang="en-PH" smtClean="0"/>
              <a:t>12/03/2025</a:t>
            </a:fld>
            <a:endParaRPr lang="en-P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0CDD91-38A5-1A0E-D809-CE7C0352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33</a:t>
            </a:fld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F7527-8B60-7593-BE6E-5076F38D1260}"/>
              </a:ext>
            </a:extLst>
          </p:cNvPr>
          <p:cNvSpPr txBox="1"/>
          <p:nvPr/>
        </p:nvSpPr>
        <p:spPr>
          <a:xfrm>
            <a:off x="2002410" y="5719650"/>
            <a:ext cx="8161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</a:rPr>
              <a:t>Contingency Table for Likert Scale</a:t>
            </a:r>
            <a:endParaRPr lang="en-PH" sz="20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D76D53-80B1-93AE-A10F-353D8B16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1E43C8-4F3E-6886-5919-5DEFB9D6A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82254"/>
              </p:ext>
            </p:extLst>
          </p:nvPr>
        </p:nvGraphicFramePr>
        <p:xfrm>
          <a:off x="1143912" y="984516"/>
          <a:ext cx="9899580" cy="4588194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5541582">
                  <a:extLst>
                    <a:ext uri="{9D8B030D-6E8A-4147-A177-3AD203B41FA5}">
                      <a16:colId xmlns:a16="http://schemas.microsoft.com/office/drawing/2014/main" val="3774893641"/>
                    </a:ext>
                  </a:extLst>
                </a:gridCol>
                <a:gridCol w="604823">
                  <a:extLst>
                    <a:ext uri="{9D8B030D-6E8A-4147-A177-3AD203B41FA5}">
                      <a16:colId xmlns:a16="http://schemas.microsoft.com/office/drawing/2014/main" val="648012673"/>
                    </a:ext>
                  </a:extLst>
                </a:gridCol>
                <a:gridCol w="604823">
                  <a:extLst>
                    <a:ext uri="{9D8B030D-6E8A-4147-A177-3AD203B41FA5}">
                      <a16:colId xmlns:a16="http://schemas.microsoft.com/office/drawing/2014/main" val="1880630814"/>
                    </a:ext>
                  </a:extLst>
                </a:gridCol>
                <a:gridCol w="604823">
                  <a:extLst>
                    <a:ext uri="{9D8B030D-6E8A-4147-A177-3AD203B41FA5}">
                      <a16:colId xmlns:a16="http://schemas.microsoft.com/office/drawing/2014/main" val="3638934882"/>
                    </a:ext>
                  </a:extLst>
                </a:gridCol>
                <a:gridCol w="604823">
                  <a:extLst>
                    <a:ext uri="{9D8B030D-6E8A-4147-A177-3AD203B41FA5}">
                      <a16:colId xmlns:a16="http://schemas.microsoft.com/office/drawing/2014/main" val="4121787985"/>
                    </a:ext>
                  </a:extLst>
                </a:gridCol>
                <a:gridCol w="572806">
                  <a:extLst>
                    <a:ext uri="{9D8B030D-6E8A-4147-A177-3AD203B41FA5}">
                      <a16:colId xmlns:a16="http://schemas.microsoft.com/office/drawing/2014/main" val="2225339102"/>
                    </a:ext>
                  </a:extLst>
                </a:gridCol>
                <a:gridCol w="1365900">
                  <a:extLst>
                    <a:ext uri="{9D8B030D-6E8A-4147-A177-3AD203B41FA5}">
                      <a16:colId xmlns:a16="http://schemas.microsoft.com/office/drawing/2014/main" val="243507217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Crime Prevention Measures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1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2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3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4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dirty="0">
                          <a:effectLst/>
                        </a:rPr>
                        <a:t>5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 Response</a:t>
                      </a:r>
                      <a:endParaRPr lang="en-PH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52571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</a:endParaRP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sz="2400" b="0" dirty="0">
                          <a:effectLst/>
                        </a:rPr>
                        <a:t>1. Barangay patrols are regularly made.</a:t>
                      </a:r>
                    </a:p>
                    <a:p>
                      <a:pPr marL="457200" indent="-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AutoNum type="arabicPeriod"/>
                      </a:pPr>
                      <a:endParaRPr lang="en-PH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5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30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28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77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59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4.09</a:t>
                      </a:r>
                      <a:endParaRPr lang="en-PH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5503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0" dirty="0">
                          <a:effectLst/>
                        </a:rPr>
                        <a:t>2. Curfew regulations are strictly enforced.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29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74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48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3.62</a:t>
                      </a:r>
                      <a:endParaRPr lang="en-PH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92561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PH" sz="1200" b="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0" dirty="0">
                          <a:effectLst/>
                        </a:rPr>
                        <a:t>3. CCTV cameras are vigilantly monitored.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PH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36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46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58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40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19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2.80</a:t>
                      </a:r>
                      <a:endParaRPr lang="en-PH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72861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PH" sz="2400" b="0" dirty="0">
                          <a:effectLst/>
                        </a:rPr>
                        <a:t>4. Apprehended petty thieves are required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PH" sz="2400" b="0" dirty="0">
                          <a:effectLst/>
                        </a:rPr>
                        <a:t>to render community service.</a:t>
                      </a:r>
                      <a:endParaRPr lang="en-PH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10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33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46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74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35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3.46</a:t>
                      </a:r>
                      <a:endParaRPr lang="en-PH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2302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PH" sz="2400" b="0" dirty="0">
                          <a:effectLst/>
                        </a:rPr>
                        <a:t>5. Reminders or warnings to residents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PH" sz="2400" b="0" dirty="0">
                          <a:effectLst/>
                        </a:rPr>
                        <a:t>against thieves are provided.</a:t>
                      </a:r>
                      <a:endParaRPr lang="en-PH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9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31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45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62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400" b="1" dirty="0">
                          <a:effectLst/>
                        </a:rPr>
                        <a:t>51</a:t>
                      </a:r>
                      <a:endParaRPr lang="en-PH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3.58</a:t>
                      </a:r>
                      <a:endParaRPr lang="en-PH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371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44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2616</Words>
  <Application>Microsoft Office PowerPoint</Application>
  <PresentationFormat>Widescreen</PresentationFormat>
  <Paragraphs>789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Aharoni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Equation</vt:lpstr>
      <vt:lpstr>Module 2</vt:lpstr>
      <vt:lpstr>Table 3.1: Ages of 44 Students (Unranked)</vt:lpstr>
      <vt:lpstr>Table 3.2: Ages of 44 Students (Ranked)</vt:lpstr>
      <vt:lpstr>Table 3.3:  Frequency Distribution  of Ages of 44 Students  (grouped data, without classes)</vt:lpstr>
      <vt:lpstr>Table 3.4:  Frequency Distribution of Ages of 44 Students (grouped data, with classes)</vt:lpstr>
      <vt:lpstr>Table 3.4:  Frequency Distribution of Ages of 44 Students (grouped data, with classes)</vt:lpstr>
      <vt:lpstr>Class Boundaries</vt:lpstr>
      <vt:lpstr>Class Boundaries: (more examples)</vt:lpstr>
      <vt:lpstr>Class Width</vt:lpstr>
      <vt:lpstr>Class Mark</vt:lpstr>
      <vt:lpstr>Steps in Constructing a  Frequency Distribution</vt:lpstr>
      <vt:lpstr>Given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creator>Jacobo Gonzales</dc:creator>
  <cp:lastModifiedBy>Jacobo Gonzales</cp:lastModifiedBy>
  <cp:revision>50</cp:revision>
  <dcterms:created xsi:type="dcterms:W3CDTF">2023-04-09T23:49:18Z</dcterms:created>
  <dcterms:modified xsi:type="dcterms:W3CDTF">2025-03-12T07:01:08Z</dcterms:modified>
</cp:coreProperties>
</file>