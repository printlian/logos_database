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89" r:id="rId3"/>
    <p:sldId id="294" r:id="rId4"/>
    <p:sldId id="295" r:id="rId5"/>
    <p:sldId id="290" r:id="rId6"/>
    <p:sldId id="297" r:id="rId7"/>
    <p:sldId id="296" r:id="rId8"/>
    <p:sldId id="298" r:id="rId9"/>
    <p:sldId id="291" r:id="rId10"/>
    <p:sldId id="299" r:id="rId11"/>
    <p:sldId id="300" r:id="rId12"/>
    <p:sldId id="292" r:id="rId13"/>
    <p:sldId id="301" r:id="rId14"/>
    <p:sldId id="302" r:id="rId15"/>
    <p:sldId id="303" r:id="rId16"/>
    <p:sldId id="293" r:id="rId17"/>
    <p:sldId id="305" r:id="rId18"/>
    <p:sldId id="304" r:id="rId19"/>
    <p:sldId id="306" r:id="rId20"/>
    <p:sldId id="307" r:id="rId21"/>
    <p:sldId id="309" r:id="rId22"/>
    <p:sldId id="31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FF"/>
    <a:srgbClr val="E4201C"/>
    <a:srgbClr val="377EB8"/>
    <a:srgbClr val="000099"/>
    <a:srgbClr val="008000"/>
    <a:srgbClr val="E9EBF5"/>
    <a:srgbClr val="CFD5EA"/>
    <a:srgbClr val="E7EAF5"/>
    <a:srgbClr val="4472C4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470" y="67"/>
      </p:cViewPr>
      <p:guideLst>
        <p:guide orient="horz" pos="2137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BAA0B9-D8FD-4844-A8CA-48FEBBEDA2DB}" type="datetimeFigureOut">
              <a:rPr lang="en-PH" smtClean="0"/>
              <a:t>11/10/2025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B36B5E-2868-44EE-B5BF-726A0A6FFD96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9224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A9663-7944-FBA1-2C0C-67F49DD0C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7EA81A-8432-1BF0-A7BC-A2EB1EF72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4A085-B1AE-52AF-D4E9-F4149C130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0BC2-6789-4851-A033-6BB5B74F9719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AAC77-1C18-3710-FD01-65ED59483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97EE9-6DA9-EFB6-96FB-2608E7E0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30400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D3FF9-9A29-7689-F686-A13D2E9AB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DDAC-61AF-E940-4756-5FE222F85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45F2B-9904-E77C-8A88-38B1D70E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A38FB-47E3-3041-5936-37F52EC57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2D6C8-B0A3-248A-BF6D-FE49477D8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9906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2C3DB-0077-4F45-09FF-4983760CF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3F4E2-BEA9-B145-22F4-4110E1424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387AFF-AD14-C77C-5347-5ED11E692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73A93-19E9-4828-8064-CC092CAEC7ED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907E3-C472-3E93-4624-D6601463F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6DF0B-0938-A219-501B-2179DD10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4206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DFCE4-9578-8AEF-C5AA-49E39E10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0914D-3F5A-C6DE-7848-4F807B8C7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021C1C-984E-B1B8-56A8-950E9D4371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D89BB6-44EF-567A-1B06-5CE252B1C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2CDF2-BBAF-4A67-849A-176266B54FC3}" type="datetime1">
              <a:rPr lang="en-PH" smtClean="0"/>
              <a:t>11/10/2025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A2AC06-0ECD-5709-AB09-B729F5D1D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7028C8-FBE3-5C17-3542-A76517E3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56252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B4CED-96D6-FD3E-7E1A-303E4BD31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79FD06-A770-43A2-F7AB-FE7E1D722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C4F55-9313-F2C3-220D-2B8B26017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0F9DE-4B7F-99F5-6307-1E251A5B9C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FD5900-C455-BD10-1EB4-3F574B6B21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58AFE1-6592-B534-06D8-71209B63A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E2107-952A-4CD4-8A06-E8D3A41B25E3}" type="datetime1">
              <a:rPr lang="en-PH" smtClean="0"/>
              <a:t>11/10/2025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680D96-4E70-08DA-98AE-870357E78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5AA5F9-58FC-CE2F-8A92-332B25A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13848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1572C-228E-CC4F-29EE-BA0B2B15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49875F-6F82-56A6-D0C8-2392D087E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8D2D-EF1B-4D77-8C7A-A68A2DFDDD44}" type="datetime1">
              <a:rPr lang="en-PH" smtClean="0"/>
              <a:t>11/10/2025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FC3050-5E6F-8947-524E-373065035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926913-0AE9-F483-D95C-E93B2242D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3325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193243-AA6A-E236-C7D3-1D0031FE8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A23DB-C0DF-458D-A477-76C508462D47}" type="datetime1">
              <a:rPr lang="en-PH" smtClean="0"/>
              <a:t>11/10/2025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32F31-BA3E-DCA7-74AD-FC1C66EB2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719D8-D8A4-78E3-52C5-01775C58A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1495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D7CCD-ED7E-EA71-0FE3-313BED381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71BA0-A0D0-4F8D-69C6-926A4C68E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69623A-ABF9-D6DD-3652-4A8C281DBF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5F909-E0D2-78BC-1129-F11DD5F79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CAA80-2D4E-4300-A8B6-E495431DB547}" type="datetime1">
              <a:rPr lang="en-PH" smtClean="0"/>
              <a:t>11/10/2025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D0D21-F4CC-3939-CC89-86127AF0A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C8F155-7A3A-70B8-AB0C-2A5DE2215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8826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7A2C3-F2D6-9920-AE44-C99D70469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CEF8EB-6472-DC57-A225-C8C67BA98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BF6E8-EC2B-776C-F7DB-962B1392CF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91A641-4D4B-2445-CF05-80D8C5E96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07E7E-B679-43A5-89EA-3CF7EDDD43B9}" type="datetime1">
              <a:rPr lang="en-PH" smtClean="0"/>
              <a:t>11/10/2025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F98E3-79D9-FA34-31FE-D3CB27FF7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657A86-3BDC-AC62-7180-0593D1D2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9594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DC364-E484-05AB-C69F-8FB4B2C0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91B279-FEAE-CD31-DBEC-9C05BCD459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33F958-FADF-F95A-423F-933E18B1C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3F93-9E1B-47F8-9A73-84C33FF9E255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767E7-C64E-12F2-4D34-777159C58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1AD48-0CA7-35AF-4FA7-FDE11506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98190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9003E8-711A-FA70-B52B-E1F656AE75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446D99-5A9C-833D-F43D-AD59E1F33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DD569E-11A3-671A-126E-85917B0F8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A823D-C506-4AFE-9D45-60FB63A359A2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FBB97-974A-799C-1A30-0D2F82C32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8FF763-BB45-92C8-DC94-BC6B79D2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8388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BC1524-2C77-AAAC-A56A-D570E67DA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F33C9-2CB2-7C8D-5A64-930DCC856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09128-CD4E-E827-C85A-E20BC6D00E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9CD29C-53B6-4B88-8A30-339B5EF7DCC5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8F564-6061-A49D-2669-5789E3FC2D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BE269-C889-7500-EAD0-DA8090803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E4BEF5-A5DE-4D13-A790-8F48612D2540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26401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 descr="Best Types of Charts and Graphs for Data Visualization">
            <a:extLst>
              <a:ext uri="{FF2B5EF4-FFF2-40B4-BE49-F238E27FC236}">
                <a16:creationId xmlns:a16="http://schemas.microsoft.com/office/drawing/2014/main" id="{6F249A9E-C97F-231D-AEF8-85469C078A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5" r="2322" b="12442"/>
          <a:stretch/>
        </p:blipFill>
        <p:spPr bwMode="auto">
          <a:xfrm>
            <a:off x="-28203" y="2920"/>
            <a:ext cx="12220203" cy="6855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1FC8B2-A50C-F064-51BE-AB6ABD1B30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9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Module 3</a:t>
            </a:r>
            <a:endParaRPr lang="en-PH" sz="9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14EFF7-842F-128D-6693-0F1A9EF3F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7748" y="3602038"/>
            <a:ext cx="11519452" cy="1655762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Data Organization and Presentation </a:t>
            </a:r>
          </a:p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through </a:t>
            </a:r>
            <a:r>
              <a:rPr lang="en-US" sz="36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Graphs and Charts</a:t>
            </a:r>
            <a:endParaRPr lang="en-PH" sz="36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248691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20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633-44D1-A188-2E20-A15C2F252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are different types of graphs which can be used to describe data?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12DC3-A9C8-3E5D-45A6-324EDC606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64159" cy="4351338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PH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 </a:t>
            </a:r>
            <a:r>
              <a:rPr lang="en-PH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categorical; </a:t>
            </a:r>
            <a:r>
              <a:rPr lang="en-PH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nominal</a:t>
            </a:r>
            <a:r>
              <a:rPr lang="en-PH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PH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 ordinal </a:t>
            </a:r>
            <a:r>
              <a:rPr lang="en-PH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</a:t>
            </a:r>
            <a:endParaRPr lang="en-PH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Histograms</a:t>
            </a:r>
            <a:r>
              <a:rPr lang="en-PH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– used for continuous numerical data</a:t>
            </a:r>
            <a:endParaRPr lang="en-PH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 Chart </a:t>
            </a:r>
            <a:r>
              <a:rPr lang="en-PH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discrete or continuous numerical data.</a:t>
            </a:r>
            <a:endParaRPr lang="en-PH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PH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 Chart </a:t>
            </a:r>
            <a:r>
              <a:rPr lang="en-PH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percentage data</a:t>
            </a:r>
            <a:endParaRPr lang="en-PH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116C9-EDF5-520F-8682-C08A98C87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DFD94-8A79-14D0-12B1-871BD4AD5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41C5C-E96A-CC0D-D703-79DD8B77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18714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D6EDB-71FC-9439-8291-7A72B7532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1B44-07A9-5570-0344-ED1518422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33F92-585C-FB78-D42E-D475CD6E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EFE38-57C2-370B-EAF2-0DA42000C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050A0-2554-CCB1-F7E1-F20785E8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3</a:t>
            </a:fld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C2B4AF-D040-9266-530D-06B3EC36AAAA}"/>
              </a:ext>
            </a:extLst>
          </p:cNvPr>
          <p:cNvSpPr txBox="1"/>
          <p:nvPr/>
        </p:nvSpPr>
        <p:spPr>
          <a:xfrm>
            <a:off x="3801634" y="766296"/>
            <a:ext cx="68977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nomin</a:t>
            </a:r>
            <a:r>
              <a:rPr lang="en-PH" sz="28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color</a:t>
            </a:r>
            <a:endParaRPr lang="en-PH" sz="2800" b="1" dirty="0"/>
          </a:p>
        </p:txBody>
      </p:sp>
      <p:pic>
        <p:nvPicPr>
          <p:cNvPr id="1026" name="Picture 2" descr="CM Frequency Tables and Bar Graphs">
            <a:extLst>
              <a:ext uri="{FF2B5EF4-FFF2-40B4-BE49-F238E27FC236}">
                <a16:creationId xmlns:a16="http://schemas.microsoft.com/office/drawing/2014/main" id="{8BC25466-4168-FF07-9A17-A42624797E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931"/>
          <a:stretch/>
        </p:blipFill>
        <p:spPr bwMode="auto">
          <a:xfrm>
            <a:off x="2300433" y="1690687"/>
            <a:ext cx="7635416" cy="409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480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D7616-4145-D5DF-408F-E9BBCBD76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EBA4-5C52-89E6-5E3B-FEF57D8D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E7E50-E9F4-5765-73B1-4F10D7C9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F0943-7963-EBC4-8642-0C472F79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1B1D3-8649-2D9B-E18D-E5D1BD39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4</a:t>
            </a:fld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94577A-5779-8D45-8110-34255C10F252}"/>
              </a:ext>
            </a:extLst>
          </p:cNvPr>
          <p:cNvSpPr txBox="1"/>
          <p:nvPr/>
        </p:nvSpPr>
        <p:spPr>
          <a:xfrm>
            <a:off x="3827282" y="766296"/>
            <a:ext cx="799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nominal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</a:t>
            </a:r>
            <a:r>
              <a:rPr lang="en-PH" sz="28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music genre</a:t>
            </a:r>
            <a:endParaRPr lang="en-PH" sz="2800" b="1" dirty="0"/>
          </a:p>
        </p:txBody>
      </p:sp>
      <p:pic>
        <p:nvPicPr>
          <p:cNvPr id="2050" name="Picture 2" descr="Free Bar Graph Maker - Create Bar Chart Race Online | Canva">
            <a:extLst>
              <a:ext uri="{FF2B5EF4-FFF2-40B4-BE49-F238E27FC236}">
                <a16:creationId xmlns:a16="http://schemas.microsoft.com/office/drawing/2014/main" id="{53352798-BA2F-E876-0441-5954883777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1" t="9302" r="7122" b="8036"/>
          <a:stretch/>
        </p:blipFill>
        <p:spPr bwMode="auto">
          <a:xfrm>
            <a:off x="2392461" y="1470188"/>
            <a:ext cx="7626199" cy="4942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952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B1000-E3E1-E23B-5E39-7818B161E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538FD-FEF6-C92C-E0D5-46C13C7D2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8BF744-4F42-26AA-7C98-16123389E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5E4FD-21BE-37D7-6577-1FF3D65F6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FE838-E4BB-BE72-F36C-3A8714728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5</a:t>
            </a:fld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11A51-8CDF-5B84-3D17-40E22BFA0778}"/>
              </a:ext>
            </a:extLst>
          </p:cNvPr>
          <p:cNvSpPr txBox="1"/>
          <p:nvPr/>
        </p:nvSpPr>
        <p:spPr>
          <a:xfrm>
            <a:off x="3735646" y="766296"/>
            <a:ext cx="8330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categorical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</a:t>
            </a:r>
            <a:r>
              <a:rPr lang="en-PH" sz="2800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count </a:t>
            </a:r>
          </a:p>
        </p:txBody>
      </p:sp>
      <p:pic>
        <p:nvPicPr>
          <p:cNvPr id="1030" name="Picture 6" descr="The chart below gives information about the number of social networking  sites people used in Canada in 2014 and 2015. - SD IELTS- Saint Dodo IELTS">
            <a:extLst>
              <a:ext uri="{FF2B5EF4-FFF2-40B4-BE49-F238E27FC236}">
                <a16:creationId xmlns:a16="http://schemas.microsoft.com/office/drawing/2014/main" id="{94DDD896-B3E9-60B2-06FA-ECB125A06C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0770"/>
                    </a14:imgEffect>
                    <a14:imgEffect>
                      <a14:saturation sat="28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8154" y="1407987"/>
            <a:ext cx="8914546" cy="490996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06447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39B1A-7FC9-9D28-1F28-F63332304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616EB-1E1B-933A-286D-6D232EB8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D8654-F0D3-227A-6D05-F91B7D9E4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C9A17-2082-0A9C-170B-93B0DBB2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3C558-B415-E0F4-2A03-0100BE0B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6</a:t>
            </a:fld>
            <a:endParaRPr lang="en-PH"/>
          </a:p>
        </p:txBody>
      </p:sp>
      <p:pic>
        <p:nvPicPr>
          <p:cNvPr id="1028" name="Picture 4" descr="2.4: Bar chart showing age distribution among participants | Download  Scientific Diagram">
            <a:extLst>
              <a:ext uri="{FF2B5EF4-FFF2-40B4-BE49-F238E27FC236}">
                <a16:creationId xmlns:a16="http://schemas.microsoft.com/office/drawing/2014/main" id="{ADB5FDAF-D42B-09F5-8C33-B8D837C97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3" t="13847"/>
          <a:stretch/>
        </p:blipFill>
        <p:spPr bwMode="auto">
          <a:xfrm>
            <a:off x="2876443" y="1259801"/>
            <a:ext cx="6366089" cy="5089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1041CF3-DA9F-4936-2939-E6BF80F1B741}"/>
              </a:ext>
            </a:extLst>
          </p:cNvPr>
          <p:cNvSpPr txBox="1"/>
          <p:nvPr/>
        </p:nvSpPr>
        <p:spPr>
          <a:xfrm>
            <a:off x="3697939" y="736581"/>
            <a:ext cx="8330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categorical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</a:t>
            </a:r>
            <a:r>
              <a:rPr lang="en-PH" sz="2800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age bracket</a:t>
            </a:r>
            <a:endParaRPr lang="en-PH" sz="2800" b="1" dirty="0"/>
          </a:p>
        </p:txBody>
      </p:sp>
    </p:spTree>
    <p:extLst>
      <p:ext uri="{BB962C8B-B14F-4D97-AF65-F5344CB8AC3E}">
        <p14:creationId xmlns:p14="http://schemas.microsoft.com/office/powerpoint/2010/main" val="376503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BD245-D15D-DEF5-DCF1-1565E5949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0AC44-6B8D-0D55-88B1-AB1B5830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C4323-BA21-A75F-686E-ADFF7330B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7A1D8-B0EB-A0DA-C200-7D5227F4F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861C9-15F9-57AA-D713-52A5A82F3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7</a:t>
            </a:fld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11B69-1F89-DD60-5FAE-B5178C625CCA}"/>
              </a:ext>
            </a:extLst>
          </p:cNvPr>
          <p:cNvSpPr txBox="1"/>
          <p:nvPr/>
        </p:nvSpPr>
        <p:spPr>
          <a:xfrm>
            <a:off x="3827282" y="766296"/>
            <a:ext cx="799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ordinal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Likert scale</a:t>
            </a:r>
            <a:endParaRPr lang="en-PH" sz="28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A858F0-9331-DB71-8844-FC9D1DC5DC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237"/>
          <a:stretch/>
        </p:blipFill>
        <p:spPr>
          <a:xfrm>
            <a:off x="2615152" y="1472891"/>
            <a:ext cx="6943628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771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97283-7110-43D2-513C-F036B9A74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1593A-CC0E-6AEB-6240-6B7B94001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Graph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793213-0B84-97D0-6DB7-BFDF21FAF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2BC9B-3DC3-59D2-5929-ED22FBCA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BE425-3CF0-4565-4C2C-11BEEF7E4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8</a:t>
            </a:fld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74C8D8-CD2B-ED4B-93EB-CC1D80123132}"/>
              </a:ext>
            </a:extLst>
          </p:cNvPr>
          <p:cNvSpPr txBox="1"/>
          <p:nvPr/>
        </p:nvSpPr>
        <p:spPr>
          <a:xfrm>
            <a:off x="3827282" y="766296"/>
            <a:ext cx="799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ordinal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Likert scale</a:t>
            </a:r>
            <a:endParaRPr lang="en-PH" sz="2800" b="1" dirty="0"/>
          </a:p>
        </p:txBody>
      </p:sp>
      <p:pic>
        <p:nvPicPr>
          <p:cNvPr id="3074" name="Picture 2" descr="Discrete distribution as horizontal bar chart — Matplotlib 3.3.1  documentation">
            <a:extLst>
              <a:ext uri="{FF2B5EF4-FFF2-40B4-BE49-F238E27FC236}">
                <a16:creationId xmlns:a16="http://schemas.microsoft.com/office/drawing/2014/main" id="{92AC745A-0AA0-D1F2-2077-2A2E527F0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073" y="1414101"/>
            <a:ext cx="9083854" cy="4942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652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DF440-3ECD-B0C2-2D24-476E7AC4A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C95C-1EA6-14DF-71D9-98022DBB9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Histogram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0CEA8-92C7-670D-B5AD-FE4DE3C8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9BE6D-636D-D2F7-124A-7E4C206F3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401C1-A5C0-DE78-2626-8FEA4EF1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9</a:t>
            </a:fld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1565B0-E024-BAAB-2B5A-DAD2C6B07A38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continuous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endParaRPr lang="en-PH" sz="2800" b="1" dirty="0"/>
          </a:p>
        </p:txBody>
      </p:sp>
      <p:pic>
        <p:nvPicPr>
          <p:cNvPr id="4098" name="Picture 2" descr="Histogram and Frequency Polygon">
            <a:extLst>
              <a:ext uri="{FF2B5EF4-FFF2-40B4-BE49-F238E27FC236}">
                <a16:creationId xmlns:a16="http://schemas.microsoft.com/office/drawing/2014/main" id="{DA7F4B62-D2A2-01EB-D69D-1D4A671492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019" y="1547823"/>
            <a:ext cx="8390937" cy="4719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111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61B71-F9C5-C6BA-A7D9-0B46022F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B306-502E-C5F5-ADB3-FFDA7BF96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Histogram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463E2-2965-7B3E-871B-1AB64682D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DB6D0-CF14-5635-841D-8D6C7A9E1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94601-3276-333F-A444-DDF885D03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10</a:t>
            </a:fld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B6E277-4BBE-9DC0-5A8F-D8E1208D5AA4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continuous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price</a:t>
            </a:r>
            <a:endParaRPr lang="en-PH" sz="2800" b="1" dirty="0"/>
          </a:p>
        </p:txBody>
      </p:sp>
      <p:pic>
        <p:nvPicPr>
          <p:cNvPr id="5122" name="Picture 2" descr="Chapter 4 Histograms Stem-and-Leaf Dot Plots Measures of Central Tendency  Measures of Variation Measures of Position. - ppt download">
            <a:extLst>
              <a:ext uri="{FF2B5EF4-FFF2-40B4-BE49-F238E27FC236}">
                <a16:creationId xmlns:a16="http://schemas.microsoft.com/office/drawing/2014/main" id="{676A15F2-72C4-5C71-F38E-B9BC5A957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73" t="18803" r="16358" b="22062"/>
          <a:stretch/>
        </p:blipFill>
        <p:spPr bwMode="auto">
          <a:xfrm>
            <a:off x="2468299" y="1596419"/>
            <a:ext cx="7255401" cy="4665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75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F18A8-2C92-91C7-E145-BDCE0009C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05943-5E41-E085-4725-E3C27FFD8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Histogram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8B00CF-7121-990E-817F-30031396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CEE0-903A-47BA-FB2E-A2B1455BD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9C4C7-5EE6-0FCD-CF21-2AC19F25C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11</a:t>
            </a:fld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780E6A-EE73-03BA-66CA-BECFE0609A46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continuous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measurement</a:t>
            </a:r>
            <a:endParaRPr lang="en-PH" sz="2800" b="1" dirty="0"/>
          </a:p>
        </p:txBody>
      </p:sp>
      <p:pic>
        <p:nvPicPr>
          <p:cNvPr id="6146" name="Picture 2" descr="Master Frequency Distributions and Histograms: Key Data Tools | StudyPug">
            <a:extLst>
              <a:ext uri="{FF2B5EF4-FFF2-40B4-BE49-F238E27FC236}">
                <a16:creationId xmlns:a16="http://schemas.microsoft.com/office/drawing/2014/main" id="{C788E2B1-14AD-B0BD-D8EE-4C4873481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0913" y="1532460"/>
            <a:ext cx="6702196" cy="4823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3483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3D9BA-ED72-94F2-657B-63BDFB35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1BF87-446C-8E13-1921-0541F39A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E534-B8B1-FE89-949E-B833F3317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9126E-2E97-166D-F8E5-15AB93E49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3678B-5D67-E2E5-4ACF-5DC7E5171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12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18C20-BDF6-1628-98DD-93656DB69D72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discrete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number of times</a:t>
            </a:r>
            <a:endParaRPr lang="en-PH" sz="2800" b="1" dirty="0"/>
          </a:p>
        </p:txBody>
      </p:sp>
      <p:pic>
        <p:nvPicPr>
          <p:cNvPr id="8194" name="Picture 2" descr="Line Graph Definition, Uses &amp; Examples Video">
            <a:extLst>
              <a:ext uri="{FF2B5EF4-FFF2-40B4-BE49-F238E27FC236}">
                <a16:creationId xmlns:a16="http://schemas.microsoft.com/office/drawing/2014/main" id="{E33DC517-910D-686A-744F-129889E5DD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" t="19534" r="10228"/>
          <a:stretch/>
        </p:blipFill>
        <p:spPr bwMode="auto">
          <a:xfrm>
            <a:off x="2245918" y="1690687"/>
            <a:ext cx="7627139" cy="4581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437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8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119B-88A3-FC5E-E135-6587895F6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4B472-D9C2-9058-BF29-38C072846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42014-2163-0CCB-7FFF-2E2C4680A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0BE2F-7C7A-45DA-6E58-3EA1F9071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FEFC5-DF78-D278-827C-1406784A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13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DC583E-816A-24C8-BB7C-E44A7CE94D45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discrete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enrollment</a:t>
            </a:r>
            <a:endParaRPr lang="en-PH" sz="2800" b="1" dirty="0"/>
          </a:p>
        </p:txBody>
      </p:sp>
      <p:pic>
        <p:nvPicPr>
          <p:cNvPr id="9218" name="Picture 2" descr="Line Charts: Using, Examples, and Interpreting - Statistics By Jim">
            <a:extLst>
              <a:ext uri="{FF2B5EF4-FFF2-40B4-BE49-F238E27FC236}">
                <a16:creationId xmlns:a16="http://schemas.microsoft.com/office/drawing/2014/main" id="{A5B79586-47A3-B2C6-190F-AA035AEBD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8685" y="1407160"/>
            <a:ext cx="7214629" cy="4906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2394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16A4-230E-E8C7-5D62-5302BE47B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51145-0AF0-EB86-36EA-9E94330DC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0CFCC-ACD0-CBA4-ABA6-6AD87825A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D793B-0E34-54EB-D2CA-802516F7D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897B0-9963-437C-B640-0986B3F71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14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E428E1-4E03-A471-38E1-EAB450A20E21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comparing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discrete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data.</a:t>
            </a:r>
            <a:endParaRPr lang="en-PH" sz="2800" b="1" dirty="0"/>
          </a:p>
        </p:txBody>
      </p:sp>
      <p:pic>
        <p:nvPicPr>
          <p:cNvPr id="10242" name="Picture 2" descr="3 Types of Line Graph/Chart: + [Examples &amp; Excel Tutorial]">
            <a:extLst>
              <a:ext uri="{FF2B5EF4-FFF2-40B4-BE49-F238E27FC236}">
                <a16:creationId xmlns:a16="http://schemas.microsoft.com/office/drawing/2014/main" id="{7D07825F-3EF8-7A7B-BCE4-1F2C1D9DF5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5207" y="1555225"/>
            <a:ext cx="7548562" cy="4535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2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10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E7E0F-BFFF-394A-51CB-9013604B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77630-A445-DA94-E647-6998692DB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13C77-1113-7F3A-37D7-B249FC556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3BDAD5-95EB-EDA5-E626-671B263A0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8F307-7748-8798-26A9-D9C13449E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15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9EB06B-19B2-B050-BA60-85FAD04F2701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comparing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continuous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data.</a:t>
            </a:r>
            <a:endParaRPr lang="en-PH" sz="2800" b="1" dirty="0"/>
          </a:p>
        </p:txBody>
      </p:sp>
      <p:pic>
        <p:nvPicPr>
          <p:cNvPr id="11266" name="Picture 2" descr="Historical Gas Price Chart">
            <a:extLst>
              <a:ext uri="{FF2B5EF4-FFF2-40B4-BE49-F238E27FC236}">
                <a16:creationId xmlns:a16="http://schemas.microsoft.com/office/drawing/2014/main" id="{EBA4ACCE-591A-7C5F-DFEE-AC2678C5A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921" y="1428006"/>
            <a:ext cx="9835596" cy="4928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9829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D0EE4-5942-94A7-0A03-C58CDA6BF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3ED0B-285B-55FF-1DB5-59A6C4142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E3206-E641-5DD3-6847-4A9BFF503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36FC6-602A-DED0-CFED-4CFB29515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69D93-6655-BDBB-CAFB-A7559612C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16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AAA7E-AA6D-C4A1-BF9A-C214D5003962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percentage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sex</a:t>
            </a:r>
            <a:endParaRPr lang="en-PH" sz="2800" b="1" dirty="0"/>
          </a:p>
        </p:txBody>
      </p:sp>
      <p:pic>
        <p:nvPicPr>
          <p:cNvPr id="7172" name="Picture 4" descr="How to☝️ Create a Male/Female Pie Chart in Excel - Spreadsheet Daddy">
            <a:extLst>
              <a:ext uri="{FF2B5EF4-FFF2-40B4-BE49-F238E27FC236}">
                <a16:creationId xmlns:a16="http://schemas.microsoft.com/office/drawing/2014/main" id="{91AACCEF-6630-126A-0E9A-95B3BC4B5D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42" t="9863" r="17528" b="5764"/>
          <a:stretch/>
        </p:blipFill>
        <p:spPr bwMode="auto">
          <a:xfrm>
            <a:off x="3148158" y="1512804"/>
            <a:ext cx="5895680" cy="4789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9991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DF1B4-9531-8ACD-681F-AC6DEA205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E2D5D-B761-8537-38B1-3A4C721D1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E0109-9760-E9C8-FFA0-04BD2E29B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5298D-3FA6-2573-C841-3ECF3E0AA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BA37-12C9-1290-CDCE-701AB6D9F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17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FDE63-1D3E-4BE8-ECED-99E4A0401E8C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percentage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of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college participants</a:t>
            </a:r>
            <a:endParaRPr lang="en-PH" sz="2800" b="1" dirty="0"/>
          </a:p>
        </p:txBody>
      </p:sp>
      <p:pic>
        <p:nvPicPr>
          <p:cNvPr id="13314" name="Picture 2" descr="Pie Chart of percentages of student participants by college. | Download  Scientific Diagram">
            <a:extLst>
              <a:ext uri="{FF2B5EF4-FFF2-40B4-BE49-F238E27FC236}">
                <a16:creationId xmlns:a16="http://schemas.microsoft.com/office/drawing/2014/main" id="{5AC0A085-B83B-96D1-473B-38417E7BE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1576" y="1622756"/>
            <a:ext cx="8536757" cy="461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315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2000"/>
                                        <p:tgtEl>
                                          <p:spTgt spid="13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FFBC3-C0AF-4D8D-B039-1AA61167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99D7-DA4A-D582-00AB-7DC33F7C1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 Chart</a:t>
            </a:r>
            <a:endParaRPr lang="en-P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FC5DD-0333-66DD-17F3-D90F0D78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D205C-7211-4BA9-FB6C-A8464C0C4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05E31-6085-93EA-904F-741F7DFD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18</a:t>
            </a:fld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93C07B-0A42-9B5C-651F-0C1F63C70583}"/>
              </a:ext>
            </a:extLst>
          </p:cNvPr>
          <p:cNvSpPr txBox="1"/>
          <p:nvPr/>
        </p:nvSpPr>
        <p:spPr>
          <a:xfrm>
            <a:off x="3801634" y="766296"/>
            <a:ext cx="8160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used for </a:t>
            </a:r>
            <a:r>
              <a:rPr lang="en-PH" sz="2800" u="sng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percentage</a:t>
            </a:r>
            <a:r>
              <a:rPr lang="en-PH" sz="2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such as </a:t>
            </a:r>
            <a:r>
              <a:rPr lang="en-PH" sz="2800" b="1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class/type</a:t>
            </a:r>
            <a:endParaRPr lang="en-PH" sz="2800" b="1" dirty="0"/>
          </a:p>
        </p:txBody>
      </p:sp>
      <p:pic>
        <p:nvPicPr>
          <p:cNvPr id="7170" name="Picture 2" descr="Multi-level Pie Charts">
            <a:extLst>
              <a:ext uri="{FF2B5EF4-FFF2-40B4-BE49-F238E27FC236}">
                <a16:creationId xmlns:a16="http://schemas.microsoft.com/office/drawing/2014/main" id="{4D45ED93-86F9-C377-70E0-9EC89535D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7769" y="1594342"/>
            <a:ext cx="4464085" cy="4591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3DF12D2-5049-B675-65DE-3A1CD40FAA2E}"/>
              </a:ext>
            </a:extLst>
          </p:cNvPr>
          <p:cNvGrpSpPr/>
          <p:nvPr/>
        </p:nvGrpSpPr>
        <p:grpSpPr>
          <a:xfrm>
            <a:off x="846254" y="1594342"/>
            <a:ext cx="5910760" cy="4591630"/>
            <a:chOff x="846254" y="1594342"/>
            <a:chExt cx="5910760" cy="4591630"/>
          </a:xfrm>
        </p:grpSpPr>
        <p:pic>
          <p:nvPicPr>
            <p:cNvPr id="12290" name="Picture 2" descr="Plotting the Course Through Charted Waters">
              <a:extLst>
                <a:ext uri="{FF2B5EF4-FFF2-40B4-BE49-F238E27FC236}">
                  <a16:creationId xmlns:a16="http://schemas.microsoft.com/office/drawing/2014/main" id="{60AE5CA9-ADD3-EA9A-C050-40FDECA7B3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24" r="12752" b="7315"/>
            <a:stretch/>
          </p:blipFill>
          <p:spPr bwMode="auto">
            <a:xfrm>
              <a:off x="846254" y="1594342"/>
              <a:ext cx="5910760" cy="45916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5215EC4-99AE-190E-C8A4-3FBB51B541B0}"/>
                </a:ext>
              </a:extLst>
            </p:cNvPr>
            <p:cNvSpPr/>
            <p:nvPr/>
          </p:nvSpPr>
          <p:spPr>
            <a:xfrm>
              <a:off x="5658546" y="3791548"/>
              <a:ext cx="255600" cy="255600"/>
            </a:xfrm>
            <a:prstGeom prst="rect">
              <a:avLst/>
            </a:prstGeom>
            <a:solidFill>
              <a:srgbClr val="377EB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927FA25-7BC8-96EC-5964-D70DB9F84F69}"/>
                </a:ext>
              </a:extLst>
            </p:cNvPr>
            <p:cNvSpPr/>
            <p:nvPr/>
          </p:nvSpPr>
          <p:spPr>
            <a:xfrm>
              <a:off x="5668937" y="4087926"/>
              <a:ext cx="255600" cy="255600"/>
            </a:xfrm>
            <a:prstGeom prst="rect">
              <a:avLst/>
            </a:prstGeom>
            <a:solidFill>
              <a:srgbClr val="E4201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345141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20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31AC7-217B-2937-0C43-C8B94D24F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81FA1-70D4-532E-C112-C8DE0D55F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6F8F4-0688-FB68-D364-F603B2FBA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D0B9C-EC15-9F89-D8E3-1554DD5FC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19</a:t>
            </a:fld>
            <a:endParaRPr lang="en-PH"/>
          </a:p>
        </p:txBody>
      </p:sp>
      <p:pic>
        <p:nvPicPr>
          <p:cNvPr id="15362" name="Picture 2" descr="This may contain: chart type with different types of graphs and numbers on the bottom right hand corner,">
            <a:extLst>
              <a:ext uri="{FF2B5EF4-FFF2-40B4-BE49-F238E27FC236}">
                <a16:creationId xmlns:a16="http://schemas.microsoft.com/office/drawing/2014/main" id="{3B31C9AB-9762-35C0-FC29-DC0F2B7E11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6" t="6836"/>
          <a:stretch/>
        </p:blipFill>
        <p:spPr bwMode="auto">
          <a:xfrm>
            <a:off x="2547261" y="54428"/>
            <a:ext cx="7010400" cy="6714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319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8)">
                                      <p:cBhvr>
                                        <p:cTn id="7" dur="2000"/>
                                        <p:tgtEl>
                                          <p:spTgt spid="15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A4340-EB12-E5B5-6F10-AD52DEE49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37855-3949-9BB0-35B7-77CA6BFD6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844D2-3E79-2634-312E-EA667947E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6EA2C1-F0E3-2664-3DF4-A733DFF2D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20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06C0BE-AE0F-F04F-1013-10FCC873B7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714" y="34669"/>
            <a:ext cx="7228115" cy="6765503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C7A62265-F506-B7C7-BC70-1350E87068F4}"/>
              </a:ext>
            </a:extLst>
          </p:cNvPr>
          <p:cNvSpPr/>
          <p:nvPr/>
        </p:nvSpPr>
        <p:spPr>
          <a:xfrm>
            <a:off x="3788229" y="3200400"/>
            <a:ext cx="1883228" cy="936171"/>
          </a:xfrm>
          <a:prstGeom prst="ellipse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23694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F8B20-04F0-DB6E-2A16-D3462CB65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33051"/>
          </a:xfrm>
        </p:spPr>
        <p:txBody>
          <a:bodyPr>
            <a:normAutofit/>
          </a:bodyPr>
          <a:lstStyle/>
          <a:p>
            <a:r>
              <a:rPr lang="en-PH" sz="36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Generating Graphs and Charts Using Excel</a:t>
            </a:r>
            <a:endParaRPr lang="en-PH" sz="7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C9D6E-12A3-1B79-3955-03CD6912C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1650"/>
            <a:ext cx="10304282" cy="5727806"/>
          </a:xfrm>
        </p:spPr>
        <p:txBody>
          <a:bodyPr>
            <a:normAutofit fontScale="25000" lnSpcReduction="20000"/>
          </a:bodyPr>
          <a:lstStyle/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en-US" sz="112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Based on the raw data you had entered in a column, construct the frequency distribution table for which you wish to create a graph or chart. </a:t>
            </a:r>
            <a:endParaRPr lang="en-PH" sz="112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Highlight the cells containing the data you want to be shown in your graph. Include the data labels.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Click on </a:t>
            </a:r>
            <a:r>
              <a:rPr lang="en-PH" sz="1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Insert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tab and click the </a:t>
            </a:r>
            <a:r>
              <a:rPr lang="en-PH" sz="1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chart type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button in the Charts group. A list of sub-types would appear </a:t>
            </a:r>
            <a:r>
              <a:rPr lang="en-PH" sz="9600" i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(bar, pie, line,...)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Click the desired chart type. Excel creates the chart and the Chart Tools Context tabs would appear </a:t>
            </a:r>
            <a:r>
              <a:rPr lang="en-PH" sz="9600" i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(Layout Options, Chart Elements, Chart Styles, and Chart Filters)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 You can use these context tabs to customize your chart.</a:t>
            </a:r>
          </a:p>
          <a:p>
            <a:pPr marL="342900" indent="-342900">
              <a:lnSpc>
                <a:spcPct val="107000"/>
              </a:lnSpc>
              <a:buFont typeface="+mj-lt"/>
              <a:buAutoNum type="arabicParenR"/>
            </a:pPr>
            <a:r>
              <a:rPr lang="en-PH" sz="112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To export your chart onto a Word doc, Click on the chart, click copy, and then paste onto the Word doc.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4B8A1-D75A-AB59-E9E6-9C6C231EA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214D9-2AD0-7FFB-A50A-769C1B8C2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Prepared by: Dr. Jacobo O. Gonzales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BF65C5-698A-957D-5E1D-0EE26284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6563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BBBC2-8CF5-01C4-BB00-22BBF34B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3097B-3FFB-9CE0-3846-33BD5DDDD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6" y="443138"/>
            <a:ext cx="10515600" cy="5913211"/>
          </a:xfrm>
        </p:spPr>
        <p:txBody>
          <a:bodyPr>
            <a:normAutofit fontScale="25000" lnSpcReduction="20000"/>
          </a:bodyPr>
          <a:lstStyle/>
          <a:p>
            <a:pPr marL="446088" lvl="0" indent="-446088">
              <a:lnSpc>
                <a:spcPct val="107000"/>
              </a:lnSpc>
              <a:buFont typeface="+mj-lt"/>
              <a:buAutoNum type="arabicParenR" startAt="6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Once in Word, you can still edit your chart.</a:t>
            </a:r>
          </a:p>
          <a:p>
            <a:pPr marL="742950" lvl="1" indent="-285750">
              <a:lnSpc>
                <a:spcPct val="107000"/>
              </a:lnSpc>
              <a:buFont typeface="+mj-lt"/>
              <a:buAutoNum type="alphaLcPeriod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Click on the chart </a:t>
            </a:r>
            <a:r>
              <a:rPr lang="en-PH" sz="9600" b="1" i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(outer) 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and the </a:t>
            </a:r>
            <a:r>
              <a:rPr lang="en-PH" sz="1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Chart Tools Context 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tabs will appear at the right side.</a:t>
            </a:r>
          </a:p>
          <a:p>
            <a:pPr marL="742950" lvl="1" indent="-285750">
              <a:lnSpc>
                <a:spcPct val="107000"/>
              </a:lnSpc>
              <a:buFont typeface="+mj-lt"/>
              <a:buAutoNum type="alphaLcPeriod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Click on the chart area </a:t>
            </a:r>
            <a:r>
              <a:rPr lang="en-PH" sz="9600" b="1" i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(inner)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you can also resize or reposition your chart.</a:t>
            </a:r>
          </a:p>
          <a:p>
            <a:pPr marL="742950" lvl="1" indent="-285750">
              <a:lnSpc>
                <a:spcPct val="107000"/>
              </a:lnSpc>
              <a:buFont typeface="+mj-lt"/>
              <a:buAutoNum type="alphaLcPeriod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Right click on the </a:t>
            </a:r>
            <a:r>
              <a:rPr lang="en-PH" sz="112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chart area 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and the </a:t>
            </a:r>
            <a:r>
              <a:rPr lang="en-PH" sz="1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Format Plot Area 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will appear in the pull-down through which you can change the fill and border. </a:t>
            </a:r>
          </a:p>
          <a:p>
            <a:pPr marL="742950" lvl="1" indent="-285750">
              <a:lnSpc>
                <a:spcPct val="107000"/>
              </a:lnSpc>
              <a:buFont typeface="+mj-lt"/>
              <a:buAutoNum type="alphaLcPeriod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Right click on an </a:t>
            </a:r>
            <a:r>
              <a:rPr lang="en-PH" sz="112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element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in the chart and the </a:t>
            </a:r>
            <a:r>
              <a:rPr lang="en-PH" sz="1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Format Data Labels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and </a:t>
            </a:r>
            <a:r>
              <a:rPr lang="en-PH" sz="1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Format Data Series 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will appear in the pull down through which you can edit the labels, fills, borders, rotation, effects, and series options where you can </a:t>
            </a:r>
            <a:r>
              <a:rPr lang="en-PH" sz="112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resize the gap width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Font typeface="+mj-lt"/>
              <a:buAutoNum type="alphaLcPeriod"/>
            </a:pP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Double clicking on the </a:t>
            </a:r>
            <a:r>
              <a:rPr lang="en-PH" sz="11200" u="sng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labels</a:t>
            </a:r>
            <a:r>
              <a:rPr lang="en-PH" sz="112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will allow you to change their font style, font size, and color.</a:t>
            </a:r>
          </a:p>
          <a:p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137DC-B891-D18F-053A-6AB0255A0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773F0-1164-4DC7-AD33-7BA84420B4EA}" type="datetime1">
              <a:rPr lang="en-PH" smtClean="0"/>
              <a:t>11/10/2025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3312E-AC22-2D62-593F-7ABF045C6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Prepared by: Dr. Jacobo O. Gonzales</a:t>
            </a:r>
            <a:endParaRPr lang="en-P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24290-DD38-D1ED-DC80-54A30C030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4BEF5-A5DE-4D13-A790-8F48612D2540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7219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1538</TotalTime>
  <Words>746</Words>
  <Application>Microsoft Office PowerPoint</Application>
  <PresentationFormat>Widescreen</PresentationFormat>
  <Paragraphs>115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Aharoni</vt:lpstr>
      <vt:lpstr>Arial</vt:lpstr>
      <vt:lpstr>Calibri</vt:lpstr>
      <vt:lpstr>Calibri Light</vt:lpstr>
      <vt:lpstr>Office Theme</vt:lpstr>
      <vt:lpstr>Module 3</vt:lpstr>
      <vt:lpstr>What are different types of graphs which can be used to describe data?</vt:lpstr>
      <vt:lpstr>Bar Graph</vt:lpstr>
      <vt:lpstr>Bar Graph</vt:lpstr>
      <vt:lpstr>Bar Graph</vt:lpstr>
      <vt:lpstr>Bar Graph</vt:lpstr>
      <vt:lpstr>Bar Graph</vt:lpstr>
      <vt:lpstr>Bar Graph</vt:lpstr>
      <vt:lpstr>Histogram</vt:lpstr>
      <vt:lpstr>Histogram</vt:lpstr>
      <vt:lpstr>Histogram</vt:lpstr>
      <vt:lpstr>Line Chart</vt:lpstr>
      <vt:lpstr>Line Chart</vt:lpstr>
      <vt:lpstr>Line Chart</vt:lpstr>
      <vt:lpstr>Line Chart</vt:lpstr>
      <vt:lpstr>Pie Chart</vt:lpstr>
      <vt:lpstr>Pie Chart</vt:lpstr>
      <vt:lpstr>Pie Chart</vt:lpstr>
      <vt:lpstr>PowerPoint Presentation</vt:lpstr>
      <vt:lpstr>PowerPoint Presentation</vt:lpstr>
      <vt:lpstr>Generating Graphs and Charts Using Excel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</dc:title>
  <dc:creator>Jacobo Gonzales</dc:creator>
  <cp:lastModifiedBy>Jacobo Gonzales</cp:lastModifiedBy>
  <cp:revision>57</cp:revision>
  <dcterms:created xsi:type="dcterms:W3CDTF">2023-04-09T23:49:18Z</dcterms:created>
  <dcterms:modified xsi:type="dcterms:W3CDTF">2025-10-11T09:15:30Z</dcterms:modified>
</cp:coreProperties>
</file>